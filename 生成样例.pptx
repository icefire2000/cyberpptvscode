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822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18" Type="http://schemas.openxmlformats.org/officeDocument/2006/relationships/image" Target="../media/image2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17" Type="http://schemas.openxmlformats.org/officeDocument/2006/relationships/image" Target="../media/image21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198425" y="208758"/>
            <a:ext cx="11786890" cy="914"/>
          </a:xfrm>
          <a:prstGeom prst="line">
            <a:avLst/>
          </a:prstGeom>
          <a:noFill/>
          <a:ln w="1397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op-rule-center-tab"/>
          <p:cNvSpPr/>
          <p:nvPr/>
        </p:nvSpPr>
        <p:spPr>
          <a:xfrm>
            <a:off x="5687568" y="205740"/>
            <a:ext cx="804672" cy="68580"/>
          </a:xfrm>
          <a:prstGeom prst="rect">
            <a:avLst/>
          </a:prstGeom>
          <a:solidFill>
            <a:srgbClr val="8B1E1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-main"/>
          <p:cNvSpPr/>
          <p:nvPr/>
        </p:nvSpPr>
        <p:spPr>
          <a:xfrm>
            <a:off x="2031980" y="603230"/>
            <a:ext cx="8135691" cy="11270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Code Copilot 与 Codex Skill 的</a:t>
            </a:r>
            <a:endParaRPr lang="en-US" sz="3800" dirty="0"/>
          </a:p>
          <a:p>
            <a:pPr marL="0" indent="0" algn="ctr">
              <a:lnSpc>
                <a:spcPct val="80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存储、发现与调用规范</a:t>
            </a:r>
            <a:endParaRPr lang="en-US" sz="3800" dirty="0"/>
          </a:p>
        </p:txBody>
      </p:sp>
      <p:sp>
        <p:nvSpPr>
          <p:cNvPr id="5" name="title-accent-rule"/>
          <p:cNvSpPr/>
          <p:nvPr/>
        </p:nvSpPr>
        <p:spPr>
          <a:xfrm>
            <a:off x="5079858" y="1899483"/>
            <a:ext cx="2031980" cy="914"/>
          </a:xfrm>
          <a:prstGeom prst="line">
            <a:avLst/>
          </a:prstGeom>
          <a:noFill/>
          <a:ln w="1905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-subtitle"/>
          <p:cNvSpPr/>
          <p:nvPr/>
        </p:nvSpPr>
        <p:spPr>
          <a:xfrm>
            <a:off x="3770254" y="2103394"/>
            <a:ext cx="4683008" cy="3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同一格式，不同宿主；统一目录，分别验证</a:t>
            </a:r>
            <a:endParaRPr lang="en-US" sz="1750" dirty="0"/>
          </a:p>
        </p:txBody>
      </p:sp>
      <p:sp>
        <p:nvSpPr>
          <p:cNvPr id="7" name="host-vscode-panel"/>
          <p:cNvSpPr/>
          <p:nvPr/>
        </p:nvSpPr>
        <p:spPr>
          <a:xfrm>
            <a:off x="881024" y="2682850"/>
            <a:ext cx="3278124" cy="2873411"/>
          </a:xfrm>
          <a:prstGeom prst="rect">
            <a:avLst/>
          </a:prstGeom>
          <a:solidFill>
            <a:srgbClr val="F3F4EF">
              <a:alpha val="0"/>
            </a:srgbClr>
          </a:solidFill>
          <a:ln w="10160">
            <a:solidFill>
              <a:srgbClr val="C8C2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host-codex-panel"/>
          <p:cNvSpPr/>
          <p:nvPr/>
        </p:nvSpPr>
        <p:spPr>
          <a:xfrm>
            <a:off x="7969087" y="2682850"/>
            <a:ext cx="3333628" cy="2873411"/>
          </a:xfrm>
          <a:prstGeom prst="rect">
            <a:avLst/>
          </a:prstGeom>
          <a:solidFill>
            <a:srgbClr val="F3F4EF">
              <a:alpha val="0"/>
            </a:srgbClr>
          </a:solidFill>
          <a:ln w="10160">
            <a:solidFill>
              <a:srgbClr val="C8C2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host-vscode-label"/>
          <p:cNvSpPr/>
          <p:nvPr/>
        </p:nvSpPr>
        <p:spPr>
          <a:xfrm>
            <a:off x="2079528" y="2833726"/>
            <a:ext cx="96835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宿主路径一</a:t>
            </a:r>
            <a:endParaRPr lang="en-US" sz="1150" dirty="0"/>
          </a:p>
        </p:txBody>
      </p:sp>
      <p:sp>
        <p:nvSpPr>
          <p:cNvPr id="10" name="host-vscode-name"/>
          <p:cNvSpPr/>
          <p:nvPr/>
        </p:nvSpPr>
        <p:spPr>
          <a:xfrm>
            <a:off x="1785915" y="3095610"/>
            <a:ext cx="1547805" cy="23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Code Copilot</a:t>
            </a:r>
            <a:endParaRPr lang="en-US" sz="1400" dirty="0"/>
          </a:p>
        </p:txBody>
      </p:sp>
      <p:sp>
        <p:nvSpPr>
          <p:cNvPr id="11" name="host-vscode-symbol"/>
          <p:cNvSpPr/>
          <p:nvPr/>
        </p:nvSpPr>
        <p:spPr>
          <a:xfrm>
            <a:off x="1785915" y="3421045"/>
            <a:ext cx="1412839" cy="992215"/>
          </a:xfrm>
          <a:prstGeom prst="roundRect">
            <a:avLst>
              <a:gd name="adj" fmla="val 3686"/>
            </a:avLst>
          </a:prstGeom>
          <a:solidFill>
            <a:srgbClr val="F3F4EF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host-vscode-symbol-titlebar"/>
          <p:cNvSpPr/>
          <p:nvPr/>
        </p:nvSpPr>
        <p:spPr>
          <a:xfrm>
            <a:off x="1785915" y="3603925"/>
            <a:ext cx="1412839" cy="914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host-vscode-symbol-dot-1"/>
          <p:cNvSpPr/>
          <p:nvPr/>
        </p:nvSpPr>
        <p:spPr>
          <a:xfrm>
            <a:off x="1886499" y="3489625"/>
            <a:ext cx="41148" cy="41148"/>
          </a:xfrm>
          <a:prstGeom prst="ellipse">
            <a:avLst/>
          </a:prstGeom>
          <a:solidFill>
            <a:srgbClr val="F3F4EF"/>
          </a:solidFill>
          <a:ln w="889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host-vscode-symbol-dot-2"/>
          <p:cNvSpPr/>
          <p:nvPr/>
        </p:nvSpPr>
        <p:spPr>
          <a:xfrm>
            <a:off x="1987083" y="3489625"/>
            <a:ext cx="41148" cy="41148"/>
          </a:xfrm>
          <a:prstGeom prst="ellipse">
            <a:avLst/>
          </a:prstGeom>
          <a:solidFill>
            <a:srgbClr val="F3F4EF"/>
          </a:solidFill>
          <a:ln w="889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host-vscode-symbol-dot-3"/>
          <p:cNvSpPr/>
          <p:nvPr/>
        </p:nvSpPr>
        <p:spPr>
          <a:xfrm>
            <a:off x="2087667" y="3489625"/>
            <a:ext cx="41148" cy="41148"/>
          </a:xfrm>
          <a:prstGeom prst="ellipse">
            <a:avLst/>
          </a:prstGeom>
          <a:solidFill>
            <a:srgbClr val="F3F4EF"/>
          </a:solidFill>
          <a:ln w="889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host-vscode-symbol-sidebar"/>
          <p:cNvSpPr/>
          <p:nvPr/>
        </p:nvSpPr>
        <p:spPr>
          <a:xfrm>
            <a:off x="2179107" y="3603925"/>
            <a:ext cx="914" cy="809335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host-vscode-symbol-gutter"/>
          <p:cNvSpPr/>
          <p:nvPr/>
        </p:nvSpPr>
        <p:spPr>
          <a:xfrm>
            <a:off x="2316267" y="3603925"/>
            <a:ext cx="914" cy="809335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host-vscode-symbol-nav-1"/>
          <p:cNvSpPr/>
          <p:nvPr/>
        </p:nvSpPr>
        <p:spPr>
          <a:xfrm>
            <a:off x="1877355" y="3750229"/>
            <a:ext cx="100584" cy="100584"/>
          </a:xfrm>
          <a:prstGeom prst="rect">
            <a:avLst/>
          </a:prstGeom>
          <a:solidFill>
            <a:srgbClr val="F3F4EF">
              <a:alpha val="0"/>
            </a:srgbClr>
          </a:solidFill>
          <a:ln w="1016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host-vscode-symbol-nav-2"/>
          <p:cNvSpPr/>
          <p:nvPr/>
        </p:nvSpPr>
        <p:spPr>
          <a:xfrm>
            <a:off x="1877355" y="3951397"/>
            <a:ext cx="100584" cy="914"/>
          </a:xfrm>
          <a:prstGeom prst="line">
            <a:avLst/>
          </a:prstGeom>
          <a:solidFill>
            <a:srgbClr val="F3F4EF">
              <a:alpha val="0"/>
            </a:srgbClr>
          </a:solidFill>
          <a:ln w="1016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host-vscode-symbol-nav-3"/>
          <p:cNvSpPr/>
          <p:nvPr/>
        </p:nvSpPr>
        <p:spPr>
          <a:xfrm>
            <a:off x="1877355" y="4134277"/>
            <a:ext cx="100584" cy="100584"/>
          </a:xfrm>
          <a:prstGeom prst="rect">
            <a:avLst/>
          </a:prstGeom>
          <a:solidFill>
            <a:srgbClr val="F3F4EF">
              <a:alpha val="0"/>
            </a:srgbClr>
          </a:solidFill>
          <a:ln w="1016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host-vscode-symbol-code"/>
          <p:cNvSpPr/>
          <p:nvPr/>
        </p:nvSpPr>
        <p:spPr>
          <a:xfrm>
            <a:off x="2389419" y="3667933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2000" dirty="0"/>
          </a:p>
        </p:txBody>
      </p:sp>
      <p:sp>
        <p:nvSpPr>
          <p:cNvPr id="22" name="host-vscode-symbol-code-line-1"/>
          <p:cNvSpPr/>
          <p:nvPr/>
        </p:nvSpPr>
        <p:spPr>
          <a:xfrm>
            <a:off x="2407707" y="4024549"/>
            <a:ext cx="530352" cy="914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host-vscode-symbol-code-line-2"/>
          <p:cNvSpPr/>
          <p:nvPr/>
        </p:nvSpPr>
        <p:spPr>
          <a:xfrm>
            <a:off x="2407707" y="4134277"/>
            <a:ext cx="420624" cy="914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host-vscode-symbol-code-line-3"/>
          <p:cNvSpPr/>
          <p:nvPr/>
        </p:nvSpPr>
        <p:spPr>
          <a:xfrm>
            <a:off x="2407707" y="4244005"/>
            <a:ext cx="420624" cy="914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host-vscode-action-discover-bounds"/>
          <p:cNvSpPr/>
          <p:nvPr/>
        </p:nvSpPr>
        <p:spPr>
          <a:xfrm>
            <a:off x="1238189" y="4627596"/>
            <a:ext cx="690555" cy="698510"/>
          </a:xfrm>
          <a:prstGeom prst="rect">
            <a:avLst/>
          </a:prstGeom>
          <a:solidFill>
            <a:srgbClr val="F3F4EF">
              <a:alpha val="0"/>
            </a:srgbClr>
          </a:solidFill>
          <a:ln w="12700">
            <a:solidFill>
              <a:srgbClr val="F3F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host-vscode-action-discover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1734" y="4700748"/>
            <a:ext cx="283464" cy="283464"/>
          </a:xfrm>
          <a:prstGeom prst="rect">
            <a:avLst/>
          </a:prstGeom>
        </p:spPr>
      </p:pic>
      <p:sp>
        <p:nvSpPr>
          <p:cNvPr id="27" name="host-vscode-action-discover-label"/>
          <p:cNvSpPr/>
          <p:nvPr/>
        </p:nvSpPr>
        <p:spPr>
          <a:xfrm>
            <a:off x="1238189" y="5066508"/>
            <a:ext cx="6905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050" dirty="0"/>
          </a:p>
        </p:txBody>
      </p:sp>
      <p:sp>
        <p:nvSpPr>
          <p:cNvPr id="28" name="host-vscode-action-load-bounds"/>
          <p:cNvSpPr/>
          <p:nvPr/>
        </p:nvSpPr>
        <p:spPr>
          <a:xfrm>
            <a:off x="2158990" y="4627596"/>
            <a:ext cx="690555" cy="698510"/>
          </a:xfrm>
          <a:prstGeom prst="rect">
            <a:avLst/>
          </a:prstGeom>
          <a:solidFill>
            <a:srgbClr val="F3F4EF">
              <a:alpha val="0"/>
            </a:srgbClr>
          </a:solidFill>
          <a:ln w="12700">
            <a:solidFill>
              <a:srgbClr val="F3F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host-vscode-action-load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2535" y="4700748"/>
            <a:ext cx="283464" cy="283464"/>
          </a:xfrm>
          <a:prstGeom prst="rect">
            <a:avLst/>
          </a:prstGeom>
        </p:spPr>
      </p:pic>
      <p:sp>
        <p:nvSpPr>
          <p:cNvPr id="30" name="host-vscode-action-load-label"/>
          <p:cNvSpPr/>
          <p:nvPr/>
        </p:nvSpPr>
        <p:spPr>
          <a:xfrm>
            <a:off x="2158990" y="5066508"/>
            <a:ext cx="6905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</a:t>
            </a:r>
            <a:endParaRPr lang="en-US" sz="1050" dirty="0"/>
          </a:p>
        </p:txBody>
      </p:sp>
      <p:sp>
        <p:nvSpPr>
          <p:cNvPr id="31" name="host-vscode-action-invoke-bounds"/>
          <p:cNvSpPr/>
          <p:nvPr/>
        </p:nvSpPr>
        <p:spPr>
          <a:xfrm>
            <a:off x="3095518" y="4627596"/>
            <a:ext cx="690555" cy="698510"/>
          </a:xfrm>
          <a:prstGeom prst="rect">
            <a:avLst/>
          </a:prstGeom>
          <a:solidFill>
            <a:srgbClr val="F3F4EF">
              <a:alpha val="0"/>
            </a:srgbClr>
          </a:solidFill>
          <a:ln w="12700">
            <a:solidFill>
              <a:srgbClr val="F3F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host-vscode-action-invoke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9064" y="4700748"/>
            <a:ext cx="283464" cy="283464"/>
          </a:xfrm>
          <a:prstGeom prst="rect">
            <a:avLst/>
          </a:prstGeom>
        </p:spPr>
      </p:pic>
      <p:sp>
        <p:nvSpPr>
          <p:cNvPr id="33" name="host-vscode-action-invoke-label"/>
          <p:cNvSpPr/>
          <p:nvPr/>
        </p:nvSpPr>
        <p:spPr>
          <a:xfrm>
            <a:off x="3095518" y="5066508"/>
            <a:ext cx="6905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</a:t>
            </a:r>
            <a:endParaRPr lang="en-US" sz="1050" dirty="0"/>
          </a:p>
        </p:txBody>
      </p:sp>
      <p:sp>
        <p:nvSpPr>
          <p:cNvPr id="34" name="host-codex-label"/>
          <p:cNvSpPr/>
          <p:nvPr/>
        </p:nvSpPr>
        <p:spPr>
          <a:xfrm>
            <a:off x="9111996" y="2833726"/>
            <a:ext cx="98426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宿主路径二</a:t>
            </a:r>
            <a:endParaRPr lang="en-US" sz="1150" dirty="0"/>
          </a:p>
        </p:txBody>
      </p:sp>
      <p:sp>
        <p:nvSpPr>
          <p:cNvPr id="35" name="host-codex-name"/>
          <p:cNvSpPr/>
          <p:nvPr/>
        </p:nvSpPr>
        <p:spPr>
          <a:xfrm>
            <a:off x="8897752" y="3095610"/>
            <a:ext cx="1452524" cy="23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Codex</a:t>
            </a:r>
            <a:endParaRPr lang="en-US" sz="1400" dirty="0"/>
          </a:p>
        </p:txBody>
      </p:sp>
      <p:sp>
        <p:nvSpPr>
          <p:cNvPr id="36" name="host-codex-symbol"/>
          <p:cNvSpPr/>
          <p:nvPr/>
        </p:nvSpPr>
        <p:spPr>
          <a:xfrm>
            <a:off x="8929482" y="3421045"/>
            <a:ext cx="1198504" cy="992215"/>
          </a:xfrm>
          <a:prstGeom prst="roundRect">
            <a:avLst>
              <a:gd name="adj" fmla="val 3686"/>
            </a:avLst>
          </a:prstGeom>
          <a:solidFill>
            <a:srgbClr val="F3F4EF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host-codex-symbol-titlebar"/>
          <p:cNvSpPr/>
          <p:nvPr/>
        </p:nvSpPr>
        <p:spPr>
          <a:xfrm>
            <a:off x="8929482" y="3603925"/>
            <a:ext cx="1198504" cy="914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host-codex-symbol-dot-1"/>
          <p:cNvSpPr/>
          <p:nvPr/>
        </p:nvSpPr>
        <p:spPr>
          <a:xfrm>
            <a:off x="9030066" y="3489625"/>
            <a:ext cx="41148" cy="41148"/>
          </a:xfrm>
          <a:prstGeom prst="ellipse">
            <a:avLst/>
          </a:prstGeom>
          <a:solidFill>
            <a:srgbClr val="F3F4EF"/>
          </a:solidFill>
          <a:ln w="889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host-codex-symbol-dot-2"/>
          <p:cNvSpPr/>
          <p:nvPr/>
        </p:nvSpPr>
        <p:spPr>
          <a:xfrm>
            <a:off x="9130650" y="3489625"/>
            <a:ext cx="41148" cy="41148"/>
          </a:xfrm>
          <a:prstGeom prst="ellipse">
            <a:avLst/>
          </a:prstGeom>
          <a:solidFill>
            <a:srgbClr val="F3F4EF"/>
          </a:solidFill>
          <a:ln w="889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host-codex-symbol-dot-3"/>
          <p:cNvSpPr/>
          <p:nvPr/>
        </p:nvSpPr>
        <p:spPr>
          <a:xfrm>
            <a:off x="9231234" y="3489625"/>
            <a:ext cx="41148" cy="41148"/>
          </a:xfrm>
          <a:prstGeom prst="ellipse">
            <a:avLst/>
          </a:prstGeom>
          <a:solidFill>
            <a:srgbClr val="F3F4EF"/>
          </a:solidFill>
          <a:ln w="889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host-codex-symbol-prompt"/>
          <p:cNvSpPr/>
          <p:nvPr/>
        </p:nvSpPr>
        <p:spPr>
          <a:xfrm>
            <a:off x="9084930" y="3768517"/>
            <a:ext cx="393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2000" dirty="0"/>
          </a:p>
        </p:txBody>
      </p:sp>
      <p:sp>
        <p:nvSpPr>
          <p:cNvPr id="42" name="host-codex-action-discover-bounds"/>
          <p:cNvSpPr/>
          <p:nvPr/>
        </p:nvSpPr>
        <p:spPr>
          <a:xfrm>
            <a:off x="8318297" y="4627596"/>
            <a:ext cx="690555" cy="698510"/>
          </a:xfrm>
          <a:prstGeom prst="rect">
            <a:avLst/>
          </a:prstGeom>
          <a:solidFill>
            <a:srgbClr val="F3F4EF">
              <a:alpha val="0"/>
            </a:srgbClr>
          </a:solidFill>
          <a:ln w="12700">
            <a:solidFill>
              <a:srgbClr val="F3F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host-codex-action-discover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842" y="4700748"/>
            <a:ext cx="283464" cy="283464"/>
          </a:xfrm>
          <a:prstGeom prst="rect">
            <a:avLst/>
          </a:prstGeom>
        </p:spPr>
      </p:pic>
      <p:sp>
        <p:nvSpPr>
          <p:cNvPr id="44" name="host-codex-action-discover-label"/>
          <p:cNvSpPr/>
          <p:nvPr/>
        </p:nvSpPr>
        <p:spPr>
          <a:xfrm>
            <a:off x="8318297" y="5066508"/>
            <a:ext cx="6905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050" dirty="0"/>
          </a:p>
        </p:txBody>
      </p:sp>
      <p:sp>
        <p:nvSpPr>
          <p:cNvPr id="45" name="host-codex-action-load-bounds"/>
          <p:cNvSpPr/>
          <p:nvPr/>
        </p:nvSpPr>
        <p:spPr>
          <a:xfrm>
            <a:off x="9246961" y="4627596"/>
            <a:ext cx="690555" cy="698510"/>
          </a:xfrm>
          <a:prstGeom prst="rect">
            <a:avLst/>
          </a:prstGeom>
          <a:solidFill>
            <a:srgbClr val="F3F4EF">
              <a:alpha val="0"/>
            </a:srgbClr>
          </a:solidFill>
          <a:ln w="12700">
            <a:solidFill>
              <a:srgbClr val="F3F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host-codex-action-load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50507" y="4700748"/>
            <a:ext cx="283464" cy="283464"/>
          </a:xfrm>
          <a:prstGeom prst="rect">
            <a:avLst/>
          </a:prstGeom>
        </p:spPr>
      </p:pic>
      <p:sp>
        <p:nvSpPr>
          <p:cNvPr id="47" name="host-codex-action-load-label"/>
          <p:cNvSpPr/>
          <p:nvPr/>
        </p:nvSpPr>
        <p:spPr>
          <a:xfrm>
            <a:off x="9246961" y="5066508"/>
            <a:ext cx="6905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</a:t>
            </a:r>
            <a:endParaRPr lang="en-US" sz="1050" dirty="0"/>
          </a:p>
        </p:txBody>
      </p:sp>
      <p:sp>
        <p:nvSpPr>
          <p:cNvPr id="48" name="host-codex-action-invoke-bounds"/>
          <p:cNvSpPr/>
          <p:nvPr/>
        </p:nvSpPr>
        <p:spPr>
          <a:xfrm>
            <a:off x="10191537" y="4627596"/>
            <a:ext cx="690555" cy="698510"/>
          </a:xfrm>
          <a:prstGeom prst="rect">
            <a:avLst/>
          </a:prstGeom>
          <a:solidFill>
            <a:srgbClr val="F3F4EF">
              <a:alpha val="0"/>
            </a:srgbClr>
          </a:solidFill>
          <a:ln w="12700">
            <a:solidFill>
              <a:srgbClr val="F3F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host-codex-action-invoke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95082" y="4700748"/>
            <a:ext cx="283464" cy="283464"/>
          </a:xfrm>
          <a:prstGeom prst="rect">
            <a:avLst/>
          </a:prstGeom>
        </p:spPr>
      </p:pic>
      <p:sp>
        <p:nvSpPr>
          <p:cNvPr id="50" name="host-codex-action-invoke-label"/>
          <p:cNvSpPr/>
          <p:nvPr/>
        </p:nvSpPr>
        <p:spPr>
          <a:xfrm>
            <a:off x="10191537" y="5066508"/>
            <a:ext cx="6905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</a:t>
            </a:r>
            <a:endParaRPr lang="en-US" sz="1050" dirty="0"/>
          </a:p>
        </p:txBody>
      </p:sp>
      <p:sp>
        <p:nvSpPr>
          <p:cNvPr id="51" name="host-vscode-panel-action-rule"/>
          <p:cNvSpPr/>
          <p:nvPr/>
        </p:nvSpPr>
        <p:spPr>
          <a:xfrm>
            <a:off x="1027328" y="4613148"/>
            <a:ext cx="2985516" cy="914"/>
          </a:xfrm>
          <a:prstGeom prst="line">
            <a:avLst/>
          </a:prstGeom>
          <a:noFill/>
          <a:ln w="8890">
            <a:solidFill>
              <a:srgbClr val="D6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host-vscode-panel-action-divider-1"/>
          <p:cNvSpPr/>
          <p:nvPr/>
        </p:nvSpPr>
        <p:spPr>
          <a:xfrm>
            <a:off x="1978304" y="4736592"/>
            <a:ext cx="914" cy="566928"/>
          </a:xfrm>
          <a:prstGeom prst="line">
            <a:avLst/>
          </a:prstGeom>
          <a:noFill/>
          <a:ln w="8890">
            <a:solidFill>
              <a:srgbClr val="D6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host-vscode-panel-action-divider-2"/>
          <p:cNvSpPr/>
          <p:nvPr/>
        </p:nvSpPr>
        <p:spPr>
          <a:xfrm>
            <a:off x="2965856" y="4736592"/>
            <a:ext cx="914" cy="566928"/>
          </a:xfrm>
          <a:prstGeom prst="line">
            <a:avLst/>
          </a:prstGeom>
          <a:noFill/>
          <a:ln w="8890">
            <a:solidFill>
              <a:srgbClr val="D6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host-codex-panel-action-rule"/>
          <p:cNvSpPr/>
          <p:nvPr/>
        </p:nvSpPr>
        <p:spPr>
          <a:xfrm>
            <a:off x="8115391" y="4613148"/>
            <a:ext cx="3041020" cy="914"/>
          </a:xfrm>
          <a:prstGeom prst="line">
            <a:avLst/>
          </a:prstGeom>
          <a:noFill/>
          <a:ln w="8890">
            <a:solidFill>
              <a:srgbClr val="D6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host-codex-panel-action-divider-1"/>
          <p:cNvSpPr/>
          <p:nvPr/>
        </p:nvSpPr>
        <p:spPr>
          <a:xfrm>
            <a:off x="9066367" y="4736592"/>
            <a:ext cx="914" cy="566928"/>
          </a:xfrm>
          <a:prstGeom prst="line">
            <a:avLst/>
          </a:prstGeom>
          <a:noFill/>
          <a:ln w="8890">
            <a:solidFill>
              <a:srgbClr val="D6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host-codex-panel-action-divider-2"/>
          <p:cNvSpPr/>
          <p:nvPr/>
        </p:nvSpPr>
        <p:spPr>
          <a:xfrm>
            <a:off x="10053919" y="4736592"/>
            <a:ext cx="914" cy="566928"/>
          </a:xfrm>
          <a:prstGeom prst="line">
            <a:avLst/>
          </a:prstGeom>
          <a:noFill/>
          <a:ln w="8890">
            <a:solidFill>
              <a:srgbClr val="D6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connector-vscode-bounds"/>
          <p:cNvSpPr/>
          <p:nvPr/>
        </p:nvSpPr>
        <p:spPr>
          <a:xfrm>
            <a:off x="4135374" y="3397270"/>
            <a:ext cx="1658904" cy="349209"/>
          </a:xfrm>
          <a:prstGeom prst="rect">
            <a:avLst/>
          </a:prstGeom>
          <a:solidFill>
            <a:srgbClr val="F3F4EF">
              <a:alpha val="0"/>
            </a:srgbClr>
          </a:solidFill>
          <a:ln w="12700">
            <a:solidFill>
              <a:srgbClr val="F3F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connector-vscode-horizontal-1"/>
          <p:cNvSpPr/>
          <p:nvPr/>
        </p:nvSpPr>
        <p:spPr>
          <a:xfrm>
            <a:off x="4135374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connector-vscode-horizontal-2"/>
          <p:cNvSpPr/>
          <p:nvPr/>
        </p:nvSpPr>
        <p:spPr>
          <a:xfrm>
            <a:off x="4231386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connector-vscode-horizontal-3"/>
          <p:cNvSpPr/>
          <p:nvPr/>
        </p:nvSpPr>
        <p:spPr>
          <a:xfrm>
            <a:off x="4327398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connector-vscode-horizontal-4"/>
          <p:cNvSpPr/>
          <p:nvPr/>
        </p:nvSpPr>
        <p:spPr>
          <a:xfrm>
            <a:off x="4423410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connector-vscode-horizontal-5"/>
          <p:cNvSpPr/>
          <p:nvPr/>
        </p:nvSpPr>
        <p:spPr>
          <a:xfrm>
            <a:off x="4519422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connector-vscode-horizontal-6"/>
          <p:cNvSpPr/>
          <p:nvPr/>
        </p:nvSpPr>
        <p:spPr>
          <a:xfrm>
            <a:off x="4615434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connector-vscode-horizontal-7"/>
          <p:cNvSpPr/>
          <p:nvPr/>
        </p:nvSpPr>
        <p:spPr>
          <a:xfrm>
            <a:off x="4711446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connector-vscode-horizontal-8"/>
          <p:cNvSpPr/>
          <p:nvPr/>
        </p:nvSpPr>
        <p:spPr>
          <a:xfrm>
            <a:off x="4807458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connector-vscode-horizontal-9"/>
          <p:cNvSpPr/>
          <p:nvPr/>
        </p:nvSpPr>
        <p:spPr>
          <a:xfrm>
            <a:off x="4903470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connector-vscode-horizontal-10"/>
          <p:cNvSpPr/>
          <p:nvPr/>
        </p:nvSpPr>
        <p:spPr>
          <a:xfrm>
            <a:off x="4999482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connector-vscode-horizontal-11"/>
          <p:cNvSpPr/>
          <p:nvPr/>
        </p:nvSpPr>
        <p:spPr>
          <a:xfrm>
            <a:off x="5095494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connector-vscode-horizontal-12"/>
          <p:cNvSpPr/>
          <p:nvPr/>
        </p:nvSpPr>
        <p:spPr>
          <a:xfrm>
            <a:off x="5191506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connector-vscode-horizontal-13"/>
          <p:cNvSpPr/>
          <p:nvPr/>
        </p:nvSpPr>
        <p:spPr>
          <a:xfrm>
            <a:off x="5287518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connector-vscode-horizontal-14"/>
          <p:cNvSpPr/>
          <p:nvPr/>
        </p:nvSpPr>
        <p:spPr>
          <a:xfrm>
            <a:off x="5383530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connector-vscode-horizontal-15"/>
          <p:cNvSpPr/>
          <p:nvPr/>
        </p:nvSpPr>
        <p:spPr>
          <a:xfrm>
            <a:off x="5479542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connector-vscode-horizontal-16"/>
          <p:cNvSpPr/>
          <p:nvPr/>
        </p:nvSpPr>
        <p:spPr>
          <a:xfrm>
            <a:off x="5575554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connector-vscode-horizontal-17"/>
          <p:cNvSpPr/>
          <p:nvPr/>
        </p:nvSpPr>
        <p:spPr>
          <a:xfrm>
            <a:off x="5671566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connector-vscode-vertical-1"/>
          <p:cNvSpPr/>
          <p:nvPr/>
        </p:nvSpPr>
        <p:spPr>
          <a:xfrm>
            <a:off x="5775990" y="3415558"/>
            <a:ext cx="914" cy="50292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connector-vscode-vertical-2"/>
          <p:cNvSpPr/>
          <p:nvPr/>
        </p:nvSpPr>
        <p:spPr>
          <a:xfrm>
            <a:off x="5775990" y="3506998"/>
            <a:ext cx="914" cy="50292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connector-vscode-vertical-3"/>
          <p:cNvSpPr/>
          <p:nvPr/>
        </p:nvSpPr>
        <p:spPr>
          <a:xfrm>
            <a:off x="5775990" y="3598438"/>
            <a:ext cx="914" cy="50292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connector-vscode"/>
          <p:cNvSpPr/>
          <p:nvPr/>
        </p:nvSpPr>
        <p:spPr>
          <a:xfrm>
            <a:off x="5775990" y="3671590"/>
            <a:ext cx="914" cy="74889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connector-codex-bounds"/>
          <p:cNvSpPr/>
          <p:nvPr/>
        </p:nvSpPr>
        <p:spPr>
          <a:xfrm>
            <a:off x="6333957" y="3397270"/>
            <a:ext cx="1666860" cy="349209"/>
          </a:xfrm>
          <a:prstGeom prst="rect">
            <a:avLst/>
          </a:prstGeom>
          <a:solidFill>
            <a:srgbClr val="F3F4EF">
              <a:alpha val="0"/>
            </a:srgbClr>
          </a:solidFill>
          <a:ln w="12700">
            <a:solidFill>
              <a:srgbClr val="F3F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connector-codex-horizontal-1"/>
          <p:cNvSpPr/>
          <p:nvPr/>
        </p:nvSpPr>
        <p:spPr>
          <a:xfrm>
            <a:off x="6352245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connector-codex-horizontal-2"/>
          <p:cNvSpPr/>
          <p:nvPr/>
        </p:nvSpPr>
        <p:spPr>
          <a:xfrm>
            <a:off x="6448257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connector-codex-horizontal-3"/>
          <p:cNvSpPr/>
          <p:nvPr/>
        </p:nvSpPr>
        <p:spPr>
          <a:xfrm>
            <a:off x="6544269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connector-codex-horizontal-4"/>
          <p:cNvSpPr/>
          <p:nvPr/>
        </p:nvSpPr>
        <p:spPr>
          <a:xfrm>
            <a:off x="6640281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connector-codex-horizontal-5"/>
          <p:cNvSpPr/>
          <p:nvPr/>
        </p:nvSpPr>
        <p:spPr>
          <a:xfrm>
            <a:off x="6736293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connector-codex-horizontal-6"/>
          <p:cNvSpPr/>
          <p:nvPr/>
        </p:nvSpPr>
        <p:spPr>
          <a:xfrm>
            <a:off x="6832305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connector-codex-horizontal-7"/>
          <p:cNvSpPr/>
          <p:nvPr/>
        </p:nvSpPr>
        <p:spPr>
          <a:xfrm>
            <a:off x="6928317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connector-codex-horizontal-8"/>
          <p:cNvSpPr/>
          <p:nvPr/>
        </p:nvSpPr>
        <p:spPr>
          <a:xfrm>
            <a:off x="7024329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connector-codex-horizontal-9"/>
          <p:cNvSpPr/>
          <p:nvPr/>
        </p:nvSpPr>
        <p:spPr>
          <a:xfrm>
            <a:off x="7120341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connector-codex-horizontal-10"/>
          <p:cNvSpPr/>
          <p:nvPr/>
        </p:nvSpPr>
        <p:spPr>
          <a:xfrm>
            <a:off x="7216353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connector-codex-horizontal-11"/>
          <p:cNvSpPr/>
          <p:nvPr/>
        </p:nvSpPr>
        <p:spPr>
          <a:xfrm>
            <a:off x="7312365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connector-codex-horizontal-12"/>
          <p:cNvSpPr/>
          <p:nvPr/>
        </p:nvSpPr>
        <p:spPr>
          <a:xfrm>
            <a:off x="7408377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connector-codex-horizontal-13"/>
          <p:cNvSpPr/>
          <p:nvPr/>
        </p:nvSpPr>
        <p:spPr>
          <a:xfrm>
            <a:off x="7504389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connector-codex-horizontal-14"/>
          <p:cNvSpPr/>
          <p:nvPr/>
        </p:nvSpPr>
        <p:spPr>
          <a:xfrm>
            <a:off x="7600401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connector-codex-horizontal-15"/>
          <p:cNvSpPr/>
          <p:nvPr/>
        </p:nvSpPr>
        <p:spPr>
          <a:xfrm>
            <a:off x="7696413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connector-codex-horizontal-16"/>
          <p:cNvSpPr/>
          <p:nvPr/>
        </p:nvSpPr>
        <p:spPr>
          <a:xfrm>
            <a:off x="7792425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connector-codex-horizontal-17"/>
          <p:cNvSpPr/>
          <p:nvPr/>
        </p:nvSpPr>
        <p:spPr>
          <a:xfrm>
            <a:off x="7888437" y="3415558"/>
            <a:ext cx="64008" cy="914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connector-codex-vertical-1"/>
          <p:cNvSpPr/>
          <p:nvPr/>
        </p:nvSpPr>
        <p:spPr>
          <a:xfrm>
            <a:off x="6352245" y="3415558"/>
            <a:ext cx="914" cy="50292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connector-codex-vertical-2"/>
          <p:cNvSpPr/>
          <p:nvPr/>
        </p:nvSpPr>
        <p:spPr>
          <a:xfrm>
            <a:off x="6352245" y="3506998"/>
            <a:ext cx="914" cy="50292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connector-codex-vertical-3"/>
          <p:cNvSpPr/>
          <p:nvPr/>
        </p:nvSpPr>
        <p:spPr>
          <a:xfrm>
            <a:off x="6352245" y="3598438"/>
            <a:ext cx="914" cy="50292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connector-codex"/>
          <p:cNvSpPr/>
          <p:nvPr/>
        </p:nvSpPr>
        <p:spPr>
          <a:xfrm>
            <a:off x="6352245" y="3671590"/>
            <a:ext cx="914" cy="74889"/>
          </a:xfrm>
          <a:prstGeom prst="line">
            <a:avLst/>
          </a:prstGeom>
          <a:noFill/>
          <a:ln w="10160">
            <a:solidFill>
              <a:srgbClr val="8B1E1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01" name="skill-file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4033" y="3762390"/>
            <a:ext cx="1047720" cy="1246144"/>
          </a:xfrm>
          <a:prstGeom prst="rect">
            <a:avLst/>
          </a:prstGeom>
        </p:spPr>
      </p:pic>
      <p:sp>
        <p:nvSpPr>
          <p:cNvPr id="102" name="skill-file-rule-1"/>
          <p:cNvSpPr/>
          <p:nvPr/>
        </p:nvSpPr>
        <p:spPr>
          <a:xfrm>
            <a:off x="5751576" y="4105656"/>
            <a:ext cx="640080" cy="914"/>
          </a:xfrm>
          <a:prstGeom prst="line">
            <a:avLst/>
          </a:prstGeom>
          <a:noFill/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kill-file-rule-2"/>
          <p:cNvSpPr/>
          <p:nvPr/>
        </p:nvSpPr>
        <p:spPr>
          <a:xfrm>
            <a:off x="5751576" y="4261104"/>
            <a:ext cx="640080" cy="914"/>
          </a:xfrm>
          <a:prstGeom prst="line">
            <a:avLst/>
          </a:prstGeom>
          <a:noFill/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kill-file-rule-3"/>
          <p:cNvSpPr/>
          <p:nvPr/>
        </p:nvSpPr>
        <p:spPr>
          <a:xfrm>
            <a:off x="5751576" y="4416552"/>
            <a:ext cx="502920" cy="914"/>
          </a:xfrm>
          <a:prstGeom prst="line">
            <a:avLst/>
          </a:prstGeom>
          <a:noFill/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kill-file-label"/>
          <p:cNvSpPr/>
          <p:nvPr/>
        </p:nvSpPr>
        <p:spPr>
          <a:xfrm>
            <a:off x="5667268" y="4532315"/>
            <a:ext cx="817565" cy="246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SKILL.md</a:t>
            </a:r>
            <a:endParaRPr lang="en-US" sz="1100" dirty="0"/>
          </a:p>
        </p:txBody>
      </p:sp>
      <p:sp>
        <p:nvSpPr>
          <p:cNvPr id="106" name="connector-directory-bounds"/>
          <p:cNvSpPr/>
          <p:nvPr/>
        </p:nvSpPr>
        <p:spPr>
          <a:xfrm>
            <a:off x="5945063" y="4992715"/>
            <a:ext cx="293705" cy="404805"/>
          </a:xfrm>
          <a:prstGeom prst="rect">
            <a:avLst/>
          </a:prstGeom>
          <a:solidFill>
            <a:srgbClr val="F3F4EF">
              <a:alpha val="0"/>
            </a:srgbClr>
          </a:solidFill>
          <a:ln w="12700">
            <a:solidFill>
              <a:srgbClr val="F3F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connector-directory"/>
          <p:cNvSpPr/>
          <p:nvPr/>
        </p:nvSpPr>
        <p:spPr>
          <a:xfrm>
            <a:off x="6091916" y="4992715"/>
            <a:ext cx="914" cy="404805"/>
          </a:xfrm>
          <a:prstGeom prst="line">
            <a:avLst/>
          </a:prstGeom>
          <a:noFill/>
          <a:ln w="12700">
            <a:solidFill>
              <a:srgbClr val="8B1E1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red-directory-panel"/>
          <p:cNvSpPr/>
          <p:nvPr/>
        </p:nvSpPr>
        <p:spPr>
          <a:xfrm>
            <a:off x="4349618" y="5381610"/>
            <a:ext cx="3357494" cy="658825"/>
          </a:xfrm>
          <a:prstGeom prst="rect">
            <a:avLst/>
          </a:prstGeom>
          <a:solidFill>
            <a:srgbClr val="F3F4EF">
              <a:alpha val="0"/>
            </a:srgbClr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9" name="shared-directory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63953" y="5500665"/>
            <a:ext cx="484175" cy="404805"/>
          </a:xfrm>
          <a:prstGeom prst="rect">
            <a:avLst/>
          </a:prstGeom>
        </p:spPr>
      </p:pic>
      <p:sp>
        <p:nvSpPr>
          <p:cNvPr id="110" name="shared-directory-title"/>
          <p:cNvSpPr/>
          <p:nvPr/>
        </p:nvSpPr>
        <p:spPr>
          <a:xfrm>
            <a:off x="5175138" y="5524530"/>
            <a:ext cx="1135045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推荐共享目录</a:t>
            </a:r>
            <a:endParaRPr lang="en-US" sz="1150" dirty="0"/>
          </a:p>
        </p:txBody>
      </p:sp>
      <p:sp>
        <p:nvSpPr>
          <p:cNvPr id="111" name="shared-directory-path"/>
          <p:cNvSpPr/>
          <p:nvPr/>
        </p:nvSpPr>
        <p:spPr>
          <a:xfrm>
            <a:off x="5175138" y="5746730"/>
            <a:ext cx="2047799" cy="182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%USERPROFILE%\.agents\skills</a:t>
            </a:r>
            <a:endParaRPr lang="en-US" sz="1050" dirty="0"/>
          </a:p>
        </p:txBody>
      </p:sp>
      <p:sp>
        <p:nvSpPr>
          <p:cNvPr id="112" name="footer-rule"/>
          <p:cNvSpPr/>
          <p:nvPr/>
        </p:nvSpPr>
        <p:spPr>
          <a:xfrm>
            <a:off x="158740" y="6119805"/>
            <a:ext cx="11882171" cy="914"/>
          </a:xfrm>
          <a:prstGeom prst="line">
            <a:avLst/>
          </a:prstGeom>
          <a:noFill/>
          <a:ln w="10160">
            <a:solidFill>
              <a:srgbClr val="D6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3" name="footer-risk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7949" y="6246815"/>
            <a:ext cx="309524" cy="317480"/>
          </a:xfrm>
          <a:prstGeom prst="rect">
            <a:avLst/>
          </a:prstGeom>
        </p:spPr>
      </p:pic>
      <p:sp>
        <p:nvSpPr>
          <p:cNvPr id="114" name="footer-caveat"/>
          <p:cNvSpPr/>
          <p:nvPr/>
        </p:nvSpPr>
        <p:spPr>
          <a:xfrm>
            <a:off x="1047720" y="6318230"/>
            <a:ext cx="2936778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风险提示：路径与行为受版本和操作系统影响。</a:t>
            </a:r>
            <a:endParaRPr lang="en-US" sz="950" dirty="0"/>
          </a:p>
        </p:txBody>
      </p:sp>
      <p:sp>
        <p:nvSpPr>
          <p:cNvPr id="115" name="footer-page-divider"/>
          <p:cNvSpPr/>
          <p:nvPr/>
        </p:nvSpPr>
        <p:spPr>
          <a:xfrm>
            <a:off x="10753344" y="6263640"/>
            <a:ext cx="914" cy="292608"/>
          </a:xfrm>
          <a:prstGeom prst="line">
            <a:avLst/>
          </a:prstGeom>
          <a:noFill/>
          <a:ln w="10160">
            <a:solidFill>
              <a:srgbClr val="D6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page-number"/>
          <p:cNvSpPr/>
          <p:nvPr/>
        </p:nvSpPr>
        <p:spPr>
          <a:xfrm>
            <a:off x="11215390" y="6246815"/>
            <a:ext cx="381030" cy="34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bounds"/>
          <p:cNvSpPr/>
          <p:nvPr/>
        </p:nvSpPr>
        <p:spPr>
          <a:xfrm>
            <a:off x="269839" y="198425"/>
            <a:ext cx="11667835" cy="873161"/>
          </a:xfrm>
          <a:prstGeom prst="rect">
            <a:avLst/>
          </a:prstGeom>
          <a:solidFill>
            <a:srgbClr val="F3F4EF">
              <a:alpha val="0"/>
            </a:srgbClr>
          </a:solidFill>
          <a:ln w="12700">
            <a:solidFill>
              <a:srgbClr val="F3F4E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" name="three-layer-bounds"/>
          <p:cNvSpPr/>
          <p:nvPr/>
        </p:nvSpPr>
        <p:spPr>
          <a:xfrm>
            <a:off x="269839" y="1150955"/>
            <a:ext cx="7461047" cy="4206880"/>
          </a:xfrm>
          <a:prstGeom prst="rect">
            <a:avLst/>
          </a:prstGeom>
          <a:solidFill>
            <a:srgbClr val="F3F4EF">
              <a:alpha val="0"/>
            </a:srgbClr>
          </a:solidFill>
          <a:ln w="12700">
            <a:solidFill>
              <a:srgbClr val="F3F4E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" name="comparison-bounds"/>
          <p:cNvSpPr/>
          <p:nvPr/>
        </p:nvSpPr>
        <p:spPr>
          <a:xfrm>
            <a:off x="7897581" y="1150955"/>
            <a:ext cx="4087734" cy="3214665"/>
          </a:xfrm>
          <a:prstGeom prst="rect">
            <a:avLst/>
          </a:prstGeom>
          <a:solidFill>
            <a:srgbClr val="F3F4EF">
              <a:alpha val="0"/>
            </a:srgbClr>
          </a:solidFill>
          <a:ln w="12700">
            <a:solidFill>
              <a:srgbClr val="F3F4E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5" name="warning-bounds"/>
          <p:cNvSpPr/>
          <p:nvPr/>
        </p:nvSpPr>
        <p:spPr>
          <a:xfrm>
            <a:off x="7897581" y="4429171"/>
            <a:ext cx="4087734" cy="888980"/>
          </a:xfrm>
          <a:prstGeom prst="rect">
            <a:avLst/>
          </a:prstGeom>
          <a:solidFill>
            <a:srgbClr val="F3F4EF">
              <a:alpha val="0"/>
            </a:srgbClr>
          </a:solidFill>
          <a:ln w="12700">
            <a:solidFill>
              <a:srgbClr val="F3F4E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6" name="so-what-bounds"/>
          <p:cNvSpPr/>
          <p:nvPr/>
        </p:nvSpPr>
        <p:spPr>
          <a:xfrm>
            <a:off x="269839" y="5516575"/>
            <a:ext cx="11707520" cy="754106"/>
          </a:xfrm>
          <a:prstGeom prst="rect">
            <a:avLst/>
          </a:prstGeom>
          <a:solidFill>
            <a:srgbClr val="F3F4EF">
              <a:alpha val="0"/>
            </a:srgbClr>
          </a:solidFill>
          <a:ln w="12700">
            <a:solidFill>
              <a:srgbClr val="F3F4E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7" name="footer-bounds"/>
          <p:cNvSpPr/>
          <p:nvPr/>
        </p:nvSpPr>
        <p:spPr>
          <a:xfrm>
            <a:off x="269839" y="6349959"/>
            <a:ext cx="11707520" cy="428671"/>
          </a:xfrm>
          <a:prstGeom prst="rect">
            <a:avLst/>
          </a:prstGeom>
          <a:solidFill>
            <a:srgbClr val="F3F4EF">
              <a:alpha val="0"/>
            </a:srgbClr>
          </a:solidFill>
          <a:ln w="12700">
            <a:solidFill>
              <a:srgbClr val="F3F4E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8" name="title-conclusion-badge"/>
          <p:cNvSpPr/>
          <p:nvPr/>
        </p:nvSpPr>
        <p:spPr>
          <a:xfrm>
            <a:off x="274320" y="219456"/>
            <a:ext cx="566928" cy="310896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9" name="title-conclusion-label"/>
          <p:cNvSpPr/>
          <p:nvPr/>
        </p:nvSpPr>
        <p:spPr>
          <a:xfrm>
            <a:off x="274320" y="21945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0" name="page-title"/>
          <p:cNvSpPr/>
          <p:nvPr/>
        </p:nvSpPr>
        <p:spPr>
          <a:xfrm>
            <a:off x="274320" y="603504"/>
            <a:ext cx="1163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两个宿主共享 SKILL.md 语义，但可见性由各自的扫描、注册和菜单机制决定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1" name="title-rule"/>
          <p:cNvSpPr/>
          <p:nvPr/>
        </p:nvSpPr>
        <p:spPr>
          <a:xfrm>
            <a:off x="274320" y="1042416"/>
            <a:ext cx="11631168" cy="914"/>
          </a:xfrm>
          <a:prstGeom prst="line">
            <a:avLst/>
          </a:prstGeom>
          <a:noFill/>
          <a:ln w="1016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2" name="title-evidence-label"/>
          <p:cNvSpPr/>
          <p:nvPr/>
        </p:nvSpPr>
        <p:spPr>
          <a:xfrm>
            <a:off x="7882128" y="2834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3" name="title-evidence-E01-box"/>
          <p:cNvSpPr/>
          <p:nvPr/>
        </p:nvSpPr>
        <p:spPr>
          <a:xfrm>
            <a:off x="8211312" y="283464"/>
            <a:ext cx="292608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4" name="title-evidence-E01"/>
          <p:cNvSpPr/>
          <p:nvPr/>
        </p:nvSpPr>
        <p:spPr>
          <a:xfrm>
            <a:off x="8211312" y="28346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" name="title-evidence-E02-box"/>
          <p:cNvSpPr/>
          <p:nvPr/>
        </p:nvSpPr>
        <p:spPr>
          <a:xfrm>
            <a:off x="8558784" y="283464"/>
            <a:ext cx="292608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6" name="title-evidence-E02"/>
          <p:cNvSpPr/>
          <p:nvPr/>
        </p:nvSpPr>
        <p:spPr>
          <a:xfrm>
            <a:off x="8558784" y="28346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7" name="title-evidence-E07-box"/>
          <p:cNvSpPr/>
          <p:nvPr/>
        </p:nvSpPr>
        <p:spPr>
          <a:xfrm>
            <a:off x="8906256" y="283464"/>
            <a:ext cx="292608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" name="title-evidence-E07"/>
          <p:cNvSpPr/>
          <p:nvPr/>
        </p:nvSpPr>
        <p:spPr>
          <a:xfrm>
            <a:off x="8906256" y="28346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9" name="title-evidence-E17-box"/>
          <p:cNvSpPr/>
          <p:nvPr/>
        </p:nvSpPr>
        <p:spPr>
          <a:xfrm>
            <a:off x="9253728" y="283464"/>
            <a:ext cx="292608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" name="title-evidence-E17"/>
          <p:cNvSpPr/>
          <p:nvPr/>
        </p:nvSpPr>
        <p:spPr>
          <a:xfrm>
            <a:off x="9253728" y="28346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1" name="title-risk-divider"/>
          <p:cNvSpPr/>
          <p:nvPr/>
        </p:nvSpPr>
        <p:spPr>
          <a:xfrm>
            <a:off x="9692640" y="256032"/>
            <a:ext cx="914" cy="265176"/>
          </a:xfrm>
          <a:prstGeom prst="line">
            <a:avLst/>
          </a:prstGeom>
          <a:noFill/>
          <a:ln w="889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22" name="title-risk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8088" y="265176"/>
            <a:ext cx="192024" cy="192024"/>
          </a:xfrm>
          <a:prstGeom prst="rect">
            <a:avLst/>
          </a:prstGeom>
        </p:spPr>
      </p:pic>
      <p:sp>
        <p:nvSpPr>
          <p:cNvPr id="23" name="title-risk-label"/>
          <p:cNvSpPr/>
          <p:nvPr/>
        </p:nvSpPr>
        <p:spPr>
          <a:xfrm>
            <a:off x="10085832" y="2651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4" name="title-risk-caveat"/>
          <p:cNvSpPr/>
          <p:nvPr/>
        </p:nvSpPr>
        <p:spPr>
          <a:xfrm>
            <a:off x="10634472" y="26517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本页不展开 user-invocable 等可见性元数据字段。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5" name="three-layer-module-marker"/>
          <p:cNvSpPr/>
          <p:nvPr/>
        </p:nvSpPr>
        <p:spPr>
          <a:xfrm>
            <a:off x="274320" y="1216152"/>
            <a:ext cx="82296" cy="155448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6" name="three-layer-module-title"/>
          <p:cNvSpPr/>
          <p:nvPr/>
        </p:nvSpPr>
        <p:spPr>
          <a:xfrm>
            <a:off x="438912" y="11795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三层架构：同一份语义，双宿主可见性路径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7" name="three-layer-subtitle"/>
          <p:cNvSpPr/>
          <p:nvPr/>
        </p:nvSpPr>
        <p:spPr>
          <a:xfrm>
            <a:off x="4114800" y="1197864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排错应先确认宿主发现链，而不是只确认磁盘中存在文件</a:t>
            </a:r>
            <a:endParaRPr kumimoji="0" lang="en-US" sz="8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8" name="three-layer-panel"/>
          <p:cNvSpPr/>
          <p:nvPr/>
        </p:nvSpPr>
        <p:spPr>
          <a:xfrm>
            <a:off x="274320" y="1472184"/>
            <a:ext cx="7443216" cy="3867912"/>
          </a:xfrm>
          <a:prstGeom prst="rect">
            <a:avLst/>
          </a:prstGeom>
          <a:solidFill>
            <a:srgbClr val="F3F4EF">
              <a:alpha val="0"/>
            </a:srgbClr>
          </a:solidFill>
          <a:ln w="889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9" name="three-layer-label-column"/>
          <p:cNvSpPr/>
          <p:nvPr/>
        </p:nvSpPr>
        <p:spPr>
          <a:xfrm>
            <a:off x="274320" y="1472184"/>
            <a:ext cx="1133856" cy="3867912"/>
          </a:xfrm>
          <a:prstGeom prst="rect">
            <a:avLst/>
          </a:prstGeom>
          <a:solidFill>
            <a:srgbClr val="ECECE8"/>
          </a:solidFill>
          <a:ln w="762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0" name="three-layer-row-rule-1"/>
          <p:cNvSpPr/>
          <p:nvPr/>
        </p:nvSpPr>
        <p:spPr>
          <a:xfrm>
            <a:off x="274320" y="2880360"/>
            <a:ext cx="7443216" cy="914"/>
          </a:xfrm>
          <a:prstGeom prst="line">
            <a:avLst/>
          </a:prstGeom>
          <a:noFill/>
          <a:ln w="8255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1" name="three-layer-row-rule-2"/>
          <p:cNvSpPr/>
          <p:nvPr/>
        </p:nvSpPr>
        <p:spPr>
          <a:xfrm>
            <a:off x="274320" y="4251960"/>
            <a:ext cx="7443216" cy="914"/>
          </a:xfrm>
          <a:prstGeom prst="line">
            <a:avLst/>
          </a:prstGeom>
          <a:noFill/>
          <a:ln w="8255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32" name="layer-call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624" y="1755648"/>
            <a:ext cx="256032" cy="256032"/>
          </a:xfrm>
          <a:prstGeom prst="rect">
            <a:avLst/>
          </a:prstGeom>
        </p:spPr>
      </p:pic>
      <p:sp>
        <p:nvSpPr>
          <p:cNvPr id="33" name="layer-call-title"/>
          <p:cNvSpPr/>
          <p:nvPr/>
        </p:nvSpPr>
        <p:spPr>
          <a:xfrm>
            <a:off x="731520" y="174650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4" name="layer-call-body"/>
          <p:cNvSpPr/>
          <p:nvPr/>
        </p:nvSpPr>
        <p:spPr>
          <a:xfrm>
            <a:off x="731520" y="1984248"/>
            <a:ext cx="6035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用户触发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被使用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35" name="layer-discovery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0624" y="3163824"/>
            <a:ext cx="256032" cy="256032"/>
          </a:xfrm>
          <a:prstGeom prst="rect">
            <a:avLst/>
          </a:prstGeom>
        </p:spPr>
      </p:pic>
      <p:sp>
        <p:nvSpPr>
          <p:cNvPr id="36" name="layer-discovery-title"/>
          <p:cNvSpPr/>
          <p:nvPr/>
        </p:nvSpPr>
        <p:spPr>
          <a:xfrm>
            <a:off x="731520" y="315468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7" name="layer-discovery-body"/>
          <p:cNvSpPr/>
          <p:nvPr/>
        </p:nvSpPr>
        <p:spPr>
          <a:xfrm>
            <a:off x="731520" y="3392424"/>
            <a:ext cx="603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宿主发现并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 Skill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38" name="layer-file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624" y="4535424"/>
            <a:ext cx="256032" cy="256032"/>
          </a:xfrm>
          <a:prstGeom prst="rect">
            <a:avLst/>
          </a:prstGeom>
        </p:spPr>
      </p:pic>
      <p:sp>
        <p:nvSpPr>
          <p:cNvPr id="39" name="layer-file-title"/>
          <p:cNvSpPr/>
          <p:nvPr/>
        </p:nvSpPr>
        <p:spPr>
          <a:xfrm>
            <a:off x="731520" y="452628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0" name="layer-file-body"/>
          <p:cNvSpPr/>
          <p:nvPr/>
        </p:nvSpPr>
        <p:spPr>
          <a:xfrm>
            <a:off x="731520" y="4764024"/>
            <a:ext cx="6035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语义与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最小结构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1" name="host-vscode-header"/>
          <p:cNvSpPr/>
          <p:nvPr/>
        </p:nvSpPr>
        <p:spPr>
          <a:xfrm>
            <a:off x="1545336" y="1472184"/>
            <a:ext cx="2962656" cy="25603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2" name="host-vscode-header-text"/>
          <p:cNvSpPr/>
          <p:nvPr/>
        </p:nvSpPr>
        <p:spPr>
          <a:xfrm>
            <a:off x="1545336" y="147218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宿主 A：VS Code Copilot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3" name="host-codex-header"/>
          <p:cNvSpPr/>
          <p:nvPr/>
        </p:nvSpPr>
        <p:spPr>
          <a:xfrm>
            <a:off x="4626864" y="1472184"/>
            <a:ext cx="2971800" cy="25603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4" name="host-codex-header-text"/>
          <p:cNvSpPr/>
          <p:nvPr/>
        </p:nvSpPr>
        <p:spPr>
          <a:xfrm>
            <a:off x="4626864" y="14721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宿主 B：OpenAI Codex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5" name="call-vscode-explicit-panel"/>
          <p:cNvSpPr/>
          <p:nvPr/>
        </p:nvSpPr>
        <p:spPr>
          <a:xfrm>
            <a:off x="1609344" y="1819656"/>
            <a:ext cx="886968" cy="804672"/>
          </a:xfrm>
          <a:prstGeom prst="rect">
            <a:avLst/>
          </a:prstGeom>
          <a:solidFill>
            <a:srgbClr val="F8F8F4"/>
          </a:solidFill>
          <a:ln w="8255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46" name="call-vscode-explicit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43100" y="1929384"/>
            <a:ext cx="219456" cy="219456"/>
          </a:xfrm>
          <a:prstGeom prst="rect">
            <a:avLst/>
          </a:prstGeom>
        </p:spPr>
      </p:pic>
      <p:sp>
        <p:nvSpPr>
          <p:cNvPr id="47" name="call-vscode-explicit-title"/>
          <p:cNvSpPr/>
          <p:nvPr/>
        </p:nvSpPr>
        <p:spPr>
          <a:xfrm>
            <a:off x="1655064" y="218541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显式调用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8" name="call-vscode-explicit-body"/>
          <p:cNvSpPr/>
          <p:nvPr/>
        </p:nvSpPr>
        <p:spPr>
          <a:xfrm>
            <a:off x="1645920" y="2377440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命令或快捷方式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9" name="call-vscode-browse-panel"/>
          <p:cNvSpPr/>
          <p:nvPr/>
        </p:nvSpPr>
        <p:spPr>
          <a:xfrm>
            <a:off x="2560320" y="1819656"/>
            <a:ext cx="886968" cy="804672"/>
          </a:xfrm>
          <a:prstGeom prst="rect">
            <a:avLst/>
          </a:prstGeom>
          <a:solidFill>
            <a:srgbClr val="F8F8F4"/>
          </a:solidFill>
          <a:ln w="8255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50" name="call-vscode-browse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94076" y="1929384"/>
            <a:ext cx="219456" cy="219456"/>
          </a:xfrm>
          <a:prstGeom prst="rect">
            <a:avLst/>
          </a:prstGeom>
        </p:spPr>
      </p:pic>
      <p:sp>
        <p:nvSpPr>
          <p:cNvPr id="51" name="call-vscode-browse-title"/>
          <p:cNvSpPr/>
          <p:nvPr/>
        </p:nvSpPr>
        <p:spPr>
          <a:xfrm>
            <a:off x="2606040" y="218541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浏览入口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52" name="call-vscode-browse-body"/>
          <p:cNvSpPr/>
          <p:nvPr/>
        </p:nvSpPr>
        <p:spPr>
          <a:xfrm>
            <a:off x="2596896" y="2377440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资源或面板入口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53" name="call-vscode-implicit-panel"/>
          <p:cNvSpPr/>
          <p:nvPr/>
        </p:nvSpPr>
        <p:spPr>
          <a:xfrm>
            <a:off x="3511296" y="1819656"/>
            <a:ext cx="886968" cy="804672"/>
          </a:xfrm>
          <a:prstGeom prst="rect">
            <a:avLst/>
          </a:prstGeom>
          <a:solidFill>
            <a:srgbClr val="F8F8F4"/>
          </a:solidFill>
          <a:ln w="8255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54" name="call-vscode-implicit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45052" y="1929384"/>
            <a:ext cx="219456" cy="219456"/>
          </a:xfrm>
          <a:prstGeom prst="rect">
            <a:avLst/>
          </a:prstGeom>
        </p:spPr>
      </p:pic>
      <p:sp>
        <p:nvSpPr>
          <p:cNvPr id="55" name="call-vscode-implicit-title"/>
          <p:cNvSpPr/>
          <p:nvPr/>
        </p:nvSpPr>
        <p:spPr>
          <a:xfrm>
            <a:off x="3557016" y="218541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隐式匹配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56" name="call-vscode-implicit-body"/>
          <p:cNvSpPr/>
          <p:nvPr/>
        </p:nvSpPr>
        <p:spPr>
          <a:xfrm>
            <a:off x="3547872" y="2377440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上下文自动匹配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57" name="call-codex-explicit-panel"/>
          <p:cNvSpPr/>
          <p:nvPr/>
        </p:nvSpPr>
        <p:spPr>
          <a:xfrm>
            <a:off x="4690872" y="1819656"/>
            <a:ext cx="886968" cy="804672"/>
          </a:xfrm>
          <a:prstGeom prst="rect">
            <a:avLst/>
          </a:prstGeom>
          <a:solidFill>
            <a:srgbClr val="F8F8F4"/>
          </a:solidFill>
          <a:ln w="8255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58" name="call-codex-explicit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4628" y="1929384"/>
            <a:ext cx="219456" cy="219456"/>
          </a:xfrm>
          <a:prstGeom prst="rect">
            <a:avLst/>
          </a:prstGeom>
        </p:spPr>
      </p:pic>
      <p:sp>
        <p:nvSpPr>
          <p:cNvPr id="59" name="call-codex-explicit-title"/>
          <p:cNvSpPr/>
          <p:nvPr/>
        </p:nvSpPr>
        <p:spPr>
          <a:xfrm>
            <a:off x="4736592" y="218541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显式调用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60" name="call-codex-explicit-body"/>
          <p:cNvSpPr/>
          <p:nvPr/>
        </p:nvSpPr>
        <p:spPr>
          <a:xfrm>
            <a:off x="4727448" y="2377440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命令或快捷方式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61" name="call-codex-browse-panel"/>
          <p:cNvSpPr/>
          <p:nvPr/>
        </p:nvSpPr>
        <p:spPr>
          <a:xfrm>
            <a:off x="5641848" y="1819656"/>
            <a:ext cx="886968" cy="804672"/>
          </a:xfrm>
          <a:prstGeom prst="rect">
            <a:avLst/>
          </a:prstGeom>
          <a:solidFill>
            <a:srgbClr val="F8F8F4"/>
          </a:solidFill>
          <a:ln w="8255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62" name="call-codex-browse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75604" y="1929384"/>
            <a:ext cx="219456" cy="219456"/>
          </a:xfrm>
          <a:prstGeom prst="rect">
            <a:avLst/>
          </a:prstGeom>
        </p:spPr>
      </p:pic>
      <p:sp>
        <p:nvSpPr>
          <p:cNvPr id="63" name="call-codex-browse-title"/>
          <p:cNvSpPr/>
          <p:nvPr/>
        </p:nvSpPr>
        <p:spPr>
          <a:xfrm>
            <a:off x="5687568" y="218541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浏览入口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64" name="call-codex-browse-body"/>
          <p:cNvSpPr/>
          <p:nvPr/>
        </p:nvSpPr>
        <p:spPr>
          <a:xfrm>
            <a:off x="5678424" y="2377440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资源或面板入口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65" name="call-codex-implicit-panel"/>
          <p:cNvSpPr/>
          <p:nvPr/>
        </p:nvSpPr>
        <p:spPr>
          <a:xfrm>
            <a:off x="6592824" y="1819656"/>
            <a:ext cx="886968" cy="804672"/>
          </a:xfrm>
          <a:prstGeom prst="rect">
            <a:avLst/>
          </a:prstGeom>
          <a:solidFill>
            <a:srgbClr val="F8F8F4"/>
          </a:solidFill>
          <a:ln w="8255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66" name="call-codex-implicit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26580" y="1929384"/>
            <a:ext cx="219456" cy="219456"/>
          </a:xfrm>
          <a:prstGeom prst="rect">
            <a:avLst/>
          </a:prstGeom>
        </p:spPr>
      </p:pic>
      <p:sp>
        <p:nvSpPr>
          <p:cNvPr id="67" name="call-codex-implicit-title"/>
          <p:cNvSpPr/>
          <p:nvPr/>
        </p:nvSpPr>
        <p:spPr>
          <a:xfrm>
            <a:off x="6638544" y="218541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隐式匹配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68" name="call-codex-implicit-body"/>
          <p:cNvSpPr/>
          <p:nvPr/>
        </p:nvSpPr>
        <p:spPr>
          <a:xfrm>
            <a:off x="6629400" y="2377440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上下文自动匹配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69" name="discover-vscode-scan-panel"/>
          <p:cNvSpPr/>
          <p:nvPr/>
        </p:nvSpPr>
        <p:spPr>
          <a:xfrm>
            <a:off x="1581912" y="3026664"/>
            <a:ext cx="685800" cy="1188720"/>
          </a:xfrm>
          <a:prstGeom prst="rect">
            <a:avLst/>
          </a:prstGeom>
          <a:solidFill>
            <a:srgbClr val="F8F8F4"/>
          </a:solidFill>
          <a:ln w="8255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70" name="discover-vscode-scan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10512" y="3145536"/>
            <a:ext cx="228600" cy="228600"/>
          </a:xfrm>
          <a:prstGeom prst="rect">
            <a:avLst/>
          </a:prstGeom>
        </p:spPr>
      </p:pic>
      <p:sp>
        <p:nvSpPr>
          <p:cNvPr id="71" name="discover-vscode-scan-title"/>
          <p:cNvSpPr/>
          <p:nvPr/>
        </p:nvSpPr>
        <p:spPr>
          <a:xfrm>
            <a:off x="1609344" y="3419856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扫描目录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72" name="discover-vscode-scan-body"/>
          <p:cNvSpPr/>
          <p:nvPr/>
        </p:nvSpPr>
        <p:spPr>
          <a:xfrm>
            <a:off x="1627632" y="363931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扫描配置目录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 SKILL.md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73" name="discover-vscode-scan-evidence-box"/>
          <p:cNvSpPr/>
          <p:nvPr/>
        </p:nvSpPr>
        <p:spPr>
          <a:xfrm>
            <a:off x="1792224" y="4005072"/>
            <a:ext cx="265176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74" name="discover-vscode-scan-evidence"/>
          <p:cNvSpPr/>
          <p:nvPr/>
        </p:nvSpPr>
        <p:spPr>
          <a:xfrm>
            <a:off x="1792224" y="4005072"/>
            <a:ext cx="265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75" name="arrow-vscode-scan-to-call"/>
          <p:cNvSpPr/>
          <p:nvPr/>
        </p:nvSpPr>
        <p:spPr>
          <a:xfrm>
            <a:off x="1924812" y="2633472"/>
            <a:ext cx="914" cy="384048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76" name="discover-vscode-register-panel"/>
          <p:cNvSpPr/>
          <p:nvPr/>
        </p:nvSpPr>
        <p:spPr>
          <a:xfrm>
            <a:off x="2318004" y="3026664"/>
            <a:ext cx="685800" cy="1188720"/>
          </a:xfrm>
          <a:prstGeom prst="rect">
            <a:avLst/>
          </a:prstGeom>
          <a:solidFill>
            <a:srgbClr val="F8F8F4"/>
          </a:solidFill>
          <a:ln w="8255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77" name="discover-vscode-register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46604" y="3145536"/>
            <a:ext cx="228600" cy="228600"/>
          </a:xfrm>
          <a:prstGeom prst="rect">
            <a:avLst/>
          </a:prstGeom>
        </p:spPr>
      </p:pic>
      <p:sp>
        <p:nvSpPr>
          <p:cNvPr id="78" name="discover-vscode-register-title"/>
          <p:cNvSpPr/>
          <p:nvPr/>
        </p:nvSpPr>
        <p:spPr>
          <a:xfrm>
            <a:off x="2345436" y="3419856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扩展注册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79" name="discover-vscode-register-body"/>
          <p:cNvSpPr/>
          <p:nvPr/>
        </p:nvSpPr>
        <p:spPr>
          <a:xfrm>
            <a:off x="2363724" y="363931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宿主注册机制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加载可用能力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80" name="discover-vscode-register-evidence-box"/>
          <p:cNvSpPr/>
          <p:nvPr/>
        </p:nvSpPr>
        <p:spPr>
          <a:xfrm>
            <a:off x="2528316" y="4005072"/>
            <a:ext cx="265176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81" name="discover-vscode-register-evidence"/>
          <p:cNvSpPr/>
          <p:nvPr/>
        </p:nvSpPr>
        <p:spPr>
          <a:xfrm>
            <a:off x="2528316" y="4005072"/>
            <a:ext cx="265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82" name="arrow-vscode-register-to-call"/>
          <p:cNvSpPr/>
          <p:nvPr/>
        </p:nvSpPr>
        <p:spPr>
          <a:xfrm>
            <a:off x="2660904" y="2633472"/>
            <a:ext cx="914" cy="384048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83" name="discover-vscode-config-panel"/>
          <p:cNvSpPr/>
          <p:nvPr/>
        </p:nvSpPr>
        <p:spPr>
          <a:xfrm>
            <a:off x="3054096" y="3026664"/>
            <a:ext cx="685800" cy="1188720"/>
          </a:xfrm>
          <a:prstGeom prst="rect">
            <a:avLst/>
          </a:prstGeom>
          <a:solidFill>
            <a:srgbClr val="F8F8F4"/>
          </a:solidFill>
          <a:ln w="8255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84" name="discover-vscode-config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82696" y="3145536"/>
            <a:ext cx="228600" cy="228600"/>
          </a:xfrm>
          <a:prstGeom prst="rect">
            <a:avLst/>
          </a:prstGeom>
        </p:spPr>
      </p:pic>
      <p:sp>
        <p:nvSpPr>
          <p:cNvPr id="85" name="discover-vscode-config-title"/>
          <p:cNvSpPr/>
          <p:nvPr/>
        </p:nvSpPr>
        <p:spPr>
          <a:xfrm>
            <a:off x="3081528" y="3419856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配置目录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86" name="discover-vscode-config-body"/>
          <p:cNvSpPr/>
          <p:nvPr/>
        </p:nvSpPr>
        <p:spPr>
          <a:xfrm>
            <a:off x="3099816" y="363931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用户或工作区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配置决定范围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87" name="discover-vscode-config-evidence-box"/>
          <p:cNvSpPr/>
          <p:nvPr/>
        </p:nvSpPr>
        <p:spPr>
          <a:xfrm>
            <a:off x="3264408" y="4005072"/>
            <a:ext cx="265176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88" name="discover-vscode-config-evidence"/>
          <p:cNvSpPr/>
          <p:nvPr/>
        </p:nvSpPr>
        <p:spPr>
          <a:xfrm>
            <a:off x="3264408" y="4005072"/>
            <a:ext cx="265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89" name="arrow-vscode-config-to-call"/>
          <p:cNvSpPr/>
          <p:nvPr/>
        </p:nvSpPr>
        <p:spPr>
          <a:xfrm>
            <a:off x="3396996" y="2633472"/>
            <a:ext cx="914" cy="384048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90" name="discover-vscode-visibility-panel"/>
          <p:cNvSpPr/>
          <p:nvPr/>
        </p:nvSpPr>
        <p:spPr>
          <a:xfrm>
            <a:off x="3790188" y="3026664"/>
            <a:ext cx="685800" cy="1188720"/>
          </a:xfrm>
          <a:prstGeom prst="rect">
            <a:avLst/>
          </a:prstGeom>
          <a:solidFill>
            <a:srgbClr val="F8F8F4"/>
          </a:solidFill>
          <a:ln w="8255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91" name="discover-vscode-visibility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18788" y="3145536"/>
            <a:ext cx="228600" cy="228600"/>
          </a:xfrm>
          <a:prstGeom prst="rect">
            <a:avLst/>
          </a:prstGeom>
        </p:spPr>
      </p:pic>
      <p:sp>
        <p:nvSpPr>
          <p:cNvPr id="92" name="discover-vscode-visibility-title"/>
          <p:cNvSpPr/>
          <p:nvPr/>
        </p:nvSpPr>
        <p:spPr>
          <a:xfrm>
            <a:off x="3817620" y="3419856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可调用控制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93" name="discover-vscode-visibility-body"/>
          <p:cNvSpPr/>
          <p:nvPr/>
        </p:nvSpPr>
        <p:spPr>
          <a:xfrm>
            <a:off x="3835908" y="363931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菜单与入口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控制可见性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94" name="discover-vscode-visibility-evidence-box"/>
          <p:cNvSpPr/>
          <p:nvPr/>
        </p:nvSpPr>
        <p:spPr>
          <a:xfrm>
            <a:off x="4000500" y="4005072"/>
            <a:ext cx="265176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95" name="discover-vscode-visibility-evidence"/>
          <p:cNvSpPr/>
          <p:nvPr/>
        </p:nvSpPr>
        <p:spPr>
          <a:xfrm>
            <a:off x="4000500" y="4005072"/>
            <a:ext cx="265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96" name="arrow-vscode-visibility-to-call"/>
          <p:cNvSpPr/>
          <p:nvPr/>
        </p:nvSpPr>
        <p:spPr>
          <a:xfrm>
            <a:off x="4133088" y="2633472"/>
            <a:ext cx="914" cy="384048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97" name="arrow-vscode-visibility-bridge"/>
          <p:cNvSpPr/>
          <p:nvPr/>
        </p:nvSpPr>
        <p:spPr>
          <a:xfrm>
            <a:off x="4133088" y="2697480"/>
            <a:ext cx="914" cy="914"/>
          </a:xfrm>
          <a:prstGeom prst="line">
            <a:avLst/>
          </a:prstGeom>
          <a:noFill/>
          <a:ln w="8255">
            <a:solidFill>
              <a:srgbClr val="11111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98" name="discover-codex-scan-panel"/>
          <p:cNvSpPr/>
          <p:nvPr/>
        </p:nvSpPr>
        <p:spPr>
          <a:xfrm>
            <a:off x="4663440" y="3026664"/>
            <a:ext cx="685800" cy="1188720"/>
          </a:xfrm>
          <a:prstGeom prst="rect">
            <a:avLst/>
          </a:prstGeom>
          <a:solidFill>
            <a:srgbClr val="F8F8F4"/>
          </a:solidFill>
          <a:ln w="8255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99" name="discover-codex-scan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92040" y="3145536"/>
            <a:ext cx="228600" cy="228600"/>
          </a:xfrm>
          <a:prstGeom prst="rect">
            <a:avLst/>
          </a:prstGeom>
        </p:spPr>
      </p:pic>
      <p:sp>
        <p:nvSpPr>
          <p:cNvPr id="100" name="discover-codex-scan-title"/>
          <p:cNvSpPr/>
          <p:nvPr/>
        </p:nvSpPr>
        <p:spPr>
          <a:xfrm>
            <a:off x="4690872" y="3419856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扫描目录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01" name="discover-codex-scan-body"/>
          <p:cNvSpPr/>
          <p:nvPr/>
        </p:nvSpPr>
        <p:spPr>
          <a:xfrm>
            <a:off x="4709160" y="363931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扫描配置目录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 SKILL.md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02" name="discover-codex-scan-evidence-box"/>
          <p:cNvSpPr/>
          <p:nvPr/>
        </p:nvSpPr>
        <p:spPr>
          <a:xfrm>
            <a:off x="4873752" y="4005072"/>
            <a:ext cx="265176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03" name="discover-codex-scan-evidence"/>
          <p:cNvSpPr/>
          <p:nvPr/>
        </p:nvSpPr>
        <p:spPr>
          <a:xfrm>
            <a:off x="4873752" y="4005072"/>
            <a:ext cx="265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04" name="arrow-codex-scan-to-call"/>
          <p:cNvSpPr/>
          <p:nvPr/>
        </p:nvSpPr>
        <p:spPr>
          <a:xfrm>
            <a:off x="5006340" y="2633472"/>
            <a:ext cx="914" cy="384048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05" name="discover-codex-register-panel"/>
          <p:cNvSpPr/>
          <p:nvPr/>
        </p:nvSpPr>
        <p:spPr>
          <a:xfrm>
            <a:off x="5399532" y="3026664"/>
            <a:ext cx="685800" cy="1188720"/>
          </a:xfrm>
          <a:prstGeom prst="rect">
            <a:avLst/>
          </a:prstGeom>
          <a:solidFill>
            <a:srgbClr val="F8F8F4"/>
          </a:solidFill>
          <a:ln w="8255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06" name="discover-codex-register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28132" y="3145536"/>
            <a:ext cx="228600" cy="228600"/>
          </a:xfrm>
          <a:prstGeom prst="rect">
            <a:avLst/>
          </a:prstGeom>
        </p:spPr>
      </p:pic>
      <p:sp>
        <p:nvSpPr>
          <p:cNvPr id="107" name="discover-codex-register-title"/>
          <p:cNvSpPr/>
          <p:nvPr/>
        </p:nvSpPr>
        <p:spPr>
          <a:xfrm>
            <a:off x="5426964" y="3419856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扩展注册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08" name="discover-codex-register-body"/>
          <p:cNvSpPr/>
          <p:nvPr/>
        </p:nvSpPr>
        <p:spPr>
          <a:xfrm>
            <a:off x="5445252" y="363931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宿主注册机制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加载可用能力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09" name="discover-codex-register-evidence-box"/>
          <p:cNvSpPr/>
          <p:nvPr/>
        </p:nvSpPr>
        <p:spPr>
          <a:xfrm>
            <a:off x="5609844" y="4005072"/>
            <a:ext cx="265176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10" name="discover-codex-register-evidence"/>
          <p:cNvSpPr/>
          <p:nvPr/>
        </p:nvSpPr>
        <p:spPr>
          <a:xfrm>
            <a:off x="5609844" y="4005072"/>
            <a:ext cx="265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11" name="arrow-codex-register-to-call"/>
          <p:cNvSpPr/>
          <p:nvPr/>
        </p:nvSpPr>
        <p:spPr>
          <a:xfrm>
            <a:off x="5742432" y="2633472"/>
            <a:ext cx="914" cy="384048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12" name="discover-codex-config-panel"/>
          <p:cNvSpPr/>
          <p:nvPr/>
        </p:nvSpPr>
        <p:spPr>
          <a:xfrm>
            <a:off x="6135624" y="3026664"/>
            <a:ext cx="685800" cy="1188720"/>
          </a:xfrm>
          <a:prstGeom prst="rect">
            <a:avLst/>
          </a:prstGeom>
          <a:solidFill>
            <a:srgbClr val="F8F8F4"/>
          </a:solidFill>
          <a:ln w="8255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13" name="discover-codex-config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4224" y="3145536"/>
            <a:ext cx="228600" cy="228600"/>
          </a:xfrm>
          <a:prstGeom prst="rect">
            <a:avLst/>
          </a:prstGeom>
        </p:spPr>
      </p:pic>
      <p:sp>
        <p:nvSpPr>
          <p:cNvPr id="114" name="discover-codex-config-title"/>
          <p:cNvSpPr/>
          <p:nvPr/>
        </p:nvSpPr>
        <p:spPr>
          <a:xfrm>
            <a:off x="6163056" y="3419856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配置目录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15" name="discover-codex-config-body"/>
          <p:cNvSpPr/>
          <p:nvPr/>
        </p:nvSpPr>
        <p:spPr>
          <a:xfrm>
            <a:off x="6181344" y="363931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用户或工作区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配置决定范围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16" name="discover-codex-config-evidence-box"/>
          <p:cNvSpPr/>
          <p:nvPr/>
        </p:nvSpPr>
        <p:spPr>
          <a:xfrm>
            <a:off x="6345936" y="4005072"/>
            <a:ext cx="265176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17" name="discover-codex-config-evidence"/>
          <p:cNvSpPr/>
          <p:nvPr/>
        </p:nvSpPr>
        <p:spPr>
          <a:xfrm>
            <a:off x="6345936" y="4005072"/>
            <a:ext cx="265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18" name="arrow-codex-config-to-call"/>
          <p:cNvSpPr/>
          <p:nvPr/>
        </p:nvSpPr>
        <p:spPr>
          <a:xfrm>
            <a:off x="6478524" y="2633472"/>
            <a:ext cx="914" cy="384048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19" name="discover-codex-visibility-panel"/>
          <p:cNvSpPr/>
          <p:nvPr/>
        </p:nvSpPr>
        <p:spPr>
          <a:xfrm>
            <a:off x="6871716" y="3026664"/>
            <a:ext cx="685800" cy="1188720"/>
          </a:xfrm>
          <a:prstGeom prst="rect">
            <a:avLst/>
          </a:prstGeom>
          <a:solidFill>
            <a:srgbClr val="F8F8F4"/>
          </a:solidFill>
          <a:ln w="8255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20" name="discover-codex-visibility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00316" y="3145536"/>
            <a:ext cx="228600" cy="228600"/>
          </a:xfrm>
          <a:prstGeom prst="rect">
            <a:avLst/>
          </a:prstGeom>
        </p:spPr>
      </p:pic>
      <p:sp>
        <p:nvSpPr>
          <p:cNvPr id="121" name="discover-codex-visibility-title"/>
          <p:cNvSpPr/>
          <p:nvPr/>
        </p:nvSpPr>
        <p:spPr>
          <a:xfrm>
            <a:off x="6899148" y="3419856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可调用控制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22" name="discover-codex-visibility-body"/>
          <p:cNvSpPr/>
          <p:nvPr/>
        </p:nvSpPr>
        <p:spPr>
          <a:xfrm>
            <a:off x="6917436" y="363931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菜单与入口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控制可见性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23" name="discover-codex-visibility-evidence-box"/>
          <p:cNvSpPr/>
          <p:nvPr/>
        </p:nvSpPr>
        <p:spPr>
          <a:xfrm>
            <a:off x="7082028" y="4005072"/>
            <a:ext cx="265176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24" name="discover-codex-visibility-evidence"/>
          <p:cNvSpPr/>
          <p:nvPr/>
        </p:nvSpPr>
        <p:spPr>
          <a:xfrm>
            <a:off x="7082028" y="4005072"/>
            <a:ext cx="265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25" name="arrow-codex-visibility-to-call"/>
          <p:cNvSpPr/>
          <p:nvPr/>
        </p:nvSpPr>
        <p:spPr>
          <a:xfrm>
            <a:off x="7214616" y="2633472"/>
            <a:ext cx="914" cy="384048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26" name="arrow-codex-visibility-bridge"/>
          <p:cNvSpPr/>
          <p:nvPr/>
        </p:nvSpPr>
        <p:spPr>
          <a:xfrm>
            <a:off x="7214616" y="2697480"/>
            <a:ext cx="914" cy="914"/>
          </a:xfrm>
          <a:prstGeom prst="line">
            <a:avLst/>
          </a:prstGeom>
          <a:noFill/>
          <a:ln w="8255">
            <a:solidFill>
              <a:srgbClr val="11111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27" name="file-shared-panel"/>
          <p:cNvSpPr/>
          <p:nvPr/>
        </p:nvSpPr>
        <p:spPr>
          <a:xfrm>
            <a:off x="1545336" y="4425696"/>
            <a:ext cx="6053328" cy="667512"/>
          </a:xfrm>
          <a:prstGeom prst="rect">
            <a:avLst/>
          </a:prstGeom>
          <a:solidFill>
            <a:srgbClr val="F8F8F4"/>
          </a:solidFill>
          <a:ln w="889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28" name="file-shared-title"/>
          <p:cNvSpPr/>
          <p:nvPr/>
        </p:nvSpPr>
        <p:spPr>
          <a:xfrm>
            <a:off x="1545336" y="4425696"/>
            <a:ext cx="6053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目录（两个宿主共享相同语义）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29" name="file-shared-title-rule"/>
          <p:cNvSpPr/>
          <p:nvPr/>
        </p:nvSpPr>
        <p:spPr>
          <a:xfrm>
            <a:off x="1545336" y="4654296"/>
            <a:ext cx="6053328" cy="914"/>
          </a:xfrm>
          <a:prstGeom prst="line">
            <a:avLst/>
          </a:prstGeom>
          <a:noFill/>
          <a:ln w="762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30" name="file-shared-divider-1"/>
          <p:cNvSpPr/>
          <p:nvPr/>
        </p:nvSpPr>
        <p:spPr>
          <a:xfrm>
            <a:off x="3255264" y="4654296"/>
            <a:ext cx="914" cy="438912"/>
          </a:xfrm>
          <a:prstGeom prst="line">
            <a:avLst/>
          </a:prstGeom>
          <a:noFill/>
          <a:ln w="7620">
            <a:solidFill>
              <a:srgbClr val="D6D2C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31" name="file-shared-divider-2"/>
          <p:cNvSpPr/>
          <p:nvPr/>
        </p:nvSpPr>
        <p:spPr>
          <a:xfrm>
            <a:off x="5340096" y="4654296"/>
            <a:ext cx="914" cy="438912"/>
          </a:xfrm>
          <a:prstGeom prst="line">
            <a:avLst/>
          </a:prstGeom>
          <a:noFill/>
          <a:ln w="7620">
            <a:solidFill>
              <a:srgbClr val="D6D2C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32" name="file-directory-name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00784" y="4837176"/>
            <a:ext cx="246888" cy="246888"/>
          </a:xfrm>
          <a:prstGeom prst="rect">
            <a:avLst/>
          </a:prstGeom>
        </p:spPr>
      </p:pic>
      <p:sp>
        <p:nvSpPr>
          <p:cNvPr id="133" name="file-directory-name-title"/>
          <p:cNvSpPr/>
          <p:nvPr/>
        </p:nvSpPr>
        <p:spPr>
          <a:xfrm>
            <a:off x="2029968" y="478231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目录名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34" name="file-directory-name-body"/>
          <p:cNvSpPr/>
          <p:nvPr/>
        </p:nvSpPr>
        <p:spPr>
          <a:xfrm>
            <a:off x="2029968" y="4992624"/>
            <a:ext cx="112471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唯一标识 Skill 的名称</a:t>
            </a:r>
            <a:endParaRPr kumimoji="0" lang="en-US" sz="7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35" name="file-skill-md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0712" y="4837176"/>
            <a:ext cx="246888" cy="246888"/>
          </a:xfrm>
          <a:prstGeom prst="rect">
            <a:avLst/>
          </a:prstGeom>
        </p:spPr>
      </p:pic>
      <p:sp>
        <p:nvSpPr>
          <p:cNvPr id="136" name="file-skill-md-title"/>
          <p:cNvSpPr/>
          <p:nvPr/>
        </p:nvSpPr>
        <p:spPr>
          <a:xfrm>
            <a:off x="3739896" y="4782312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SKILL.md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37" name="file-skill-md-body"/>
          <p:cNvSpPr/>
          <p:nvPr/>
        </p:nvSpPr>
        <p:spPr>
          <a:xfrm>
            <a:off x="3739896" y="4992624"/>
            <a:ext cx="149047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Skill 的语义、指令、输入/输出</a:t>
            </a:r>
            <a:endParaRPr kumimoji="0" lang="en-US" sz="7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38" name="file-metadata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95544" y="4837176"/>
            <a:ext cx="246888" cy="246888"/>
          </a:xfrm>
          <a:prstGeom prst="rect">
            <a:avLst/>
          </a:prstGeom>
        </p:spPr>
      </p:pic>
      <p:sp>
        <p:nvSpPr>
          <p:cNvPr id="139" name="file-metadata-title"/>
          <p:cNvSpPr/>
          <p:nvPr/>
        </p:nvSpPr>
        <p:spPr>
          <a:xfrm>
            <a:off x="5824728" y="478231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元数据字段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40" name="file-metadata-body"/>
          <p:cNvSpPr/>
          <p:nvPr/>
        </p:nvSpPr>
        <p:spPr>
          <a:xfrm>
            <a:off x="5824728" y="4992624"/>
            <a:ext cx="16642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name、description 等基本信息</a:t>
            </a:r>
            <a:endParaRPr kumimoji="0" lang="en-US" sz="7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41" name="arrow-file-to-vscode"/>
          <p:cNvSpPr/>
          <p:nvPr/>
        </p:nvSpPr>
        <p:spPr>
          <a:xfrm>
            <a:off x="3337560" y="4261104"/>
            <a:ext cx="914" cy="164592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42" name="arrow-file-to-codex"/>
          <p:cNvSpPr/>
          <p:nvPr/>
        </p:nvSpPr>
        <p:spPr>
          <a:xfrm>
            <a:off x="5797296" y="4261104"/>
            <a:ext cx="914" cy="164592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43" name="comparison-title"/>
          <p:cNvSpPr/>
          <p:nvPr/>
        </p:nvSpPr>
        <p:spPr>
          <a:xfrm>
            <a:off x="7973568" y="11795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共同点与差异对照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44" name="comparison-table-frame"/>
          <p:cNvSpPr/>
          <p:nvPr/>
        </p:nvSpPr>
        <p:spPr>
          <a:xfrm>
            <a:off x="7900416" y="1463040"/>
            <a:ext cx="4059936" cy="2889504"/>
          </a:xfrm>
          <a:prstGeom prst="rect">
            <a:avLst/>
          </a:prstGeom>
          <a:solidFill>
            <a:srgbClr val="F3F4EF">
              <a:alpha val="0"/>
            </a:srgbClr>
          </a:solidFill>
          <a:ln w="889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45" name="comparison-table-header"/>
          <p:cNvSpPr/>
          <p:nvPr/>
        </p:nvSpPr>
        <p:spPr>
          <a:xfrm>
            <a:off x="7900416" y="1463040"/>
            <a:ext cx="4059936" cy="301752"/>
          </a:xfrm>
          <a:prstGeom prst="rect">
            <a:avLst/>
          </a:prstGeom>
          <a:solidFill>
            <a:srgbClr val="ECECE8"/>
          </a:solidFill>
          <a:ln w="762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46" name="comparison-header-common"/>
          <p:cNvSpPr/>
          <p:nvPr/>
        </p:nvSpPr>
        <p:spPr>
          <a:xfrm>
            <a:off x="8558784" y="1463040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</a:t>
            </a:r>
            <a:endParaRPr kumimoji="0" lang="en-US" sz="9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47" name="comparison-header-difference"/>
          <p:cNvSpPr/>
          <p:nvPr/>
        </p:nvSpPr>
        <p:spPr>
          <a:xfrm>
            <a:off x="10241280" y="1463040"/>
            <a:ext cx="1719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宿主差异</a:t>
            </a:r>
            <a:endParaRPr kumimoji="0" lang="en-US" sz="9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48" name="comparison-col-rule-1"/>
          <p:cNvSpPr/>
          <p:nvPr/>
        </p:nvSpPr>
        <p:spPr>
          <a:xfrm>
            <a:off x="8558784" y="1463040"/>
            <a:ext cx="914" cy="2889504"/>
          </a:xfrm>
          <a:prstGeom prst="line">
            <a:avLst/>
          </a:prstGeom>
          <a:noFill/>
          <a:ln w="762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49" name="comparison-col-rule-2"/>
          <p:cNvSpPr/>
          <p:nvPr/>
        </p:nvSpPr>
        <p:spPr>
          <a:xfrm>
            <a:off x="10241280" y="1463040"/>
            <a:ext cx="914" cy="2889504"/>
          </a:xfrm>
          <a:prstGeom prst="line">
            <a:avLst/>
          </a:prstGeom>
          <a:noFill/>
          <a:ln w="762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0" name="comparison-row-rule-1"/>
          <p:cNvSpPr/>
          <p:nvPr/>
        </p:nvSpPr>
        <p:spPr>
          <a:xfrm>
            <a:off x="7900416" y="1764792"/>
            <a:ext cx="4059936" cy="914"/>
          </a:xfrm>
          <a:prstGeom prst="line">
            <a:avLst/>
          </a:prstGeom>
          <a:noFill/>
          <a:ln w="762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1" name="comparison-row-rule-2"/>
          <p:cNvSpPr/>
          <p:nvPr/>
        </p:nvSpPr>
        <p:spPr>
          <a:xfrm>
            <a:off x="7900416" y="2624328"/>
            <a:ext cx="4059936" cy="914"/>
          </a:xfrm>
          <a:prstGeom prst="line">
            <a:avLst/>
          </a:prstGeom>
          <a:noFill/>
          <a:ln w="762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2" name="comparison-row-rule-3"/>
          <p:cNvSpPr/>
          <p:nvPr/>
        </p:nvSpPr>
        <p:spPr>
          <a:xfrm>
            <a:off x="7900416" y="3483864"/>
            <a:ext cx="4059936" cy="914"/>
          </a:xfrm>
          <a:prstGeom prst="line">
            <a:avLst/>
          </a:prstGeom>
          <a:noFill/>
          <a:ln w="762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53" name="comparison-capability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9872" y="1901952"/>
            <a:ext cx="256032" cy="256032"/>
          </a:xfrm>
          <a:prstGeom prst="rect">
            <a:avLst/>
          </a:prstGeom>
        </p:spPr>
      </p:pic>
      <p:sp>
        <p:nvSpPr>
          <p:cNvPr id="154" name="comparison-capability-dimension"/>
          <p:cNvSpPr/>
          <p:nvPr/>
        </p:nvSpPr>
        <p:spPr>
          <a:xfrm>
            <a:off x="7955280" y="2212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能力描述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5" name="comparison-capability-common"/>
          <p:cNvSpPr/>
          <p:nvPr/>
        </p:nvSpPr>
        <p:spPr>
          <a:xfrm>
            <a:off x="8668512" y="1856232"/>
            <a:ext cx="14813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 + description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6" name="comparison-capability-difference"/>
          <p:cNvSpPr/>
          <p:nvPr/>
        </p:nvSpPr>
        <p:spPr>
          <a:xfrm>
            <a:off x="10351008" y="1856232"/>
            <a:ext cx="1517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命名校验严格度不同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57" name="comparison-discovery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9872" y="2761488"/>
            <a:ext cx="256032" cy="256032"/>
          </a:xfrm>
          <a:prstGeom prst="rect">
            <a:avLst/>
          </a:prstGeom>
        </p:spPr>
      </p:pic>
      <p:sp>
        <p:nvSpPr>
          <p:cNvPr id="158" name="comparison-discovery-dimension"/>
          <p:cNvSpPr/>
          <p:nvPr/>
        </p:nvSpPr>
        <p:spPr>
          <a:xfrm>
            <a:off x="7955280" y="30723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9" name="comparison-discovery-common"/>
          <p:cNvSpPr/>
          <p:nvPr/>
        </p:nvSpPr>
        <p:spPr>
          <a:xfrm>
            <a:off x="8668512" y="2715768"/>
            <a:ext cx="14813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均需宿主加载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60" name="comparison-discovery-difference"/>
          <p:cNvSpPr/>
          <p:nvPr/>
        </p:nvSpPr>
        <p:spPr>
          <a:xfrm>
            <a:off x="10351008" y="2715768"/>
            <a:ext cx="1517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扫描根目录与扩展注册不同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61" name="comparison-invocation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9872" y="3621024"/>
            <a:ext cx="256032" cy="256032"/>
          </a:xfrm>
          <a:prstGeom prst="rect">
            <a:avLst/>
          </a:prstGeom>
        </p:spPr>
      </p:pic>
      <p:sp>
        <p:nvSpPr>
          <p:cNvPr id="162" name="comparison-invocation-dimension"/>
          <p:cNvSpPr/>
          <p:nvPr/>
        </p:nvSpPr>
        <p:spPr>
          <a:xfrm>
            <a:off x="7955280" y="3931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63" name="comparison-invocation-common"/>
          <p:cNvSpPr/>
          <p:nvPr/>
        </p:nvSpPr>
        <p:spPr>
          <a:xfrm>
            <a:off x="8668512" y="3575304"/>
            <a:ext cx="14813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均支持显式 / 浏览 / 隐式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64" name="comparison-invocation-difference"/>
          <p:cNvSpPr/>
          <p:nvPr/>
        </p:nvSpPr>
        <p:spPr>
          <a:xfrm>
            <a:off x="10351008" y="3575304"/>
            <a:ext cx="1517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显式前缀不同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65" name="warning-panel"/>
          <p:cNvSpPr/>
          <p:nvPr/>
        </p:nvSpPr>
        <p:spPr>
          <a:xfrm>
            <a:off x="7900416" y="4425696"/>
            <a:ext cx="4059936" cy="886968"/>
          </a:xfrm>
          <a:prstGeom prst="rect">
            <a:avLst/>
          </a:prstGeom>
          <a:solidFill>
            <a:srgbClr val="F3F4EF"/>
          </a:solidFill>
          <a:ln w="1016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66" name="warning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083296" y="4599432"/>
            <a:ext cx="429768" cy="429768"/>
          </a:xfrm>
          <a:prstGeom prst="rect">
            <a:avLst/>
          </a:prstGeom>
        </p:spPr>
      </p:pic>
      <p:sp>
        <p:nvSpPr>
          <p:cNvPr id="167" name="warning-title"/>
          <p:cNvSpPr/>
          <p:nvPr/>
        </p:nvSpPr>
        <p:spPr>
          <a:xfrm>
            <a:off x="8705088" y="4553712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B1E1E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存在于磁盘 ≠ 已被宿主发现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68" name="warning-body"/>
          <p:cNvSpPr/>
          <p:nvPr/>
        </p:nvSpPr>
        <p:spPr>
          <a:xfrm>
            <a:off x="8705088" y="479145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文件层只保证语义存在；能否被发现与调用，取决于宿主发现层和调用层的各自实现。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69" name="so-what-accent-band"/>
          <p:cNvSpPr/>
          <p:nvPr/>
        </p:nvSpPr>
        <p:spPr>
          <a:xfrm>
            <a:off x="274320" y="5513832"/>
            <a:ext cx="5413248" cy="731520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70" name="so-what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0624" y="5687568"/>
            <a:ext cx="347472" cy="347472"/>
          </a:xfrm>
          <a:prstGeom prst="rect">
            <a:avLst/>
          </a:prstGeom>
        </p:spPr>
      </p:pic>
      <p:sp>
        <p:nvSpPr>
          <p:cNvPr id="171" name="so-what-label"/>
          <p:cNvSpPr/>
          <p:nvPr/>
        </p:nvSpPr>
        <p:spPr>
          <a:xfrm>
            <a:off x="868680" y="568756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72" name="so-what-body"/>
          <p:cNvSpPr/>
          <p:nvPr/>
        </p:nvSpPr>
        <p:spPr>
          <a:xfrm>
            <a:off x="1947672" y="5669280"/>
            <a:ext cx="3520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定位不可见问题时，按文件层、发现层、调用层逐层检查。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73" name="so-what-chevron-1"/>
          <p:cNvSpPr/>
          <p:nvPr/>
        </p:nvSpPr>
        <p:spPr>
          <a:xfrm>
            <a:off x="1746504" y="5696712"/>
            <a:ext cx="146304" cy="16459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74" name="so-what-chevron-2"/>
          <p:cNvSpPr/>
          <p:nvPr/>
        </p:nvSpPr>
        <p:spPr>
          <a:xfrm>
            <a:off x="1746504" y="5861304"/>
            <a:ext cx="146304" cy="16459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75" name="step-file-panel"/>
          <p:cNvSpPr/>
          <p:nvPr/>
        </p:nvSpPr>
        <p:spPr>
          <a:xfrm>
            <a:off x="5870448" y="5586984"/>
            <a:ext cx="1847088" cy="566928"/>
          </a:xfrm>
          <a:prstGeom prst="rect">
            <a:avLst/>
          </a:prstGeom>
          <a:solidFill>
            <a:srgbClr val="F3F4EF"/>
          </a:solidFill>
          <a:ln w="889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76" name="step-file-number-circle"/>
          <p:cNvSpPr/>
          <p:nvPr/>
        </p:nvSpPr>
        <p:spPr>
          <a:xfrm>
            <a:off x="5943600" y="5632704"/>
            <a:ext cx="182880" cy="182880"/>
          </a:xfrm>
          <a:prstGeom prst="ellipse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77" name="step-file-number"/>
          <p:cNvSpPr/>
          <p:nvPr/>
        </p:nvSpPr>
        <p:spPr>
          <a:xfrm>
            <a:off x="5943600" y="56327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78" name="step-file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1888" y="5879592"/>
            <a:ext cx="219456" cy="219456"/>
          </a:xfrm>
          <a:prstGeom prst="rect">
            <a:avLst/>
          </a:prstGeom>
        </p:spPr>
      </p:pic>
      <p:sp>
        <p:nvSpPr>
          <p:cNvPr id="179" name="step-file-title"/>
          <p:cNvSpPr/>
          <p:nvPr/>
        </p:nvSpPr>
        <p:spPr>
          <a:xfrm>
            <a:off x="6254496" y="5660136"/>
            <a:ext cx="1399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先看文件层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0" name="step-file-body"/>
          <p:cNvSpPr/>
          <p:nvPr/>
        </p:nvSpPr>
        <p:spPr>
          <a:xfrm>
            <a:off x="6254496" y="5879592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检查目录名、SKILL.md、元数据是否存在且语义完整。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1" name="step-discovery-panel"/>
          <p:cNvSpPr/>
          <p:nvPr/>
        </p:nvSpPr>
        <p:spPr>
          <a:xfrm>
            <a:off x="7927848" y="5586984"/>
            <a:ext cx="1719072" cy="566928"/>
          </a:xfrm>
          <a:prstGeom prst="rect">
            <a:avLst/>
          </a:prstGeom>
          <a:solidFill>
            <a:srgbClr val="F3F4EF"/>
          </a:solidFill>
          <a:ln w="889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2" name="step-discovery-number-circle"/>
          <p:cNvSpPr/>
          <p:nvPr/>
        </p:nvSpPr>
        <p:spPr>
          <a:xfrm>
            <a:off x="8001000" y="5632704"/>
            <a:ext cx="182880" cy="182880"/>
          </a:xfrm>
          <a:prstGeom prst="ellipse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3" name="step-discovery-number"/>
          <p:cNvSpPr/>
          <p:nvPr/>
        </p:nvSpPr>
        <p:spPr>
          <a:xfrm>
            <a:off x="8001000" y="56327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84" name="step-discovery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9288" y="5879592"/>
            <a:ext cx="219456" cy="219456"/>
          </a:xfrm>
          <a:prstGeom prst="rect">
            <a:avLst/>
          </a:prstGeom>
        </p:spPr>
      </p:pic>
      <p:sp>
        <p:nvSpPr>
          <p:cNvPr id="185" name="step-discovery-title"/>
          <p:cNvSpPr/>
          <p:nvPr/>
        </p:nvSpPr>
        <p:spPr>
          <a:xfrm>
            <a:off x="8311896" y="5660136"/>
            <a:ext cx="12710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再看发现层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6" name="step-discovery-body"/>
          <p:cNvSpPr/>
          <p:nvPr/>
        </p:nvSpPr>
        <p:spPr>
          <a:xfrm>
            <a:off x="8311896" y="5879592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检查扫描目录、注册状态、配置与入口控制是否生效。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7" name="step-call-panel"/>
          <p:cNvSpPr/>
          <p:nvPr/>
        </p:nvSpPr>
        <p:spPr>
          <a:xfrm>
            <a:off x="9884664" y="5586984"/>
            <a:ext cx="1801368" cy="566928"/>
          </a:xfrm>
          <a:prstGeom prst="rect">
            <a:avLst/>
          </a:prstGeom>
          <a:solidFill>
            <a:srgbClr val="F3F4EF"/>
          </a:solidFill>
          <a:ln w="889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8" name="step-call-number-circle"/>
          <p:cNvSpPr/>
          <p:nvPr/>
        </p:nvSpPr>
        <p:spPr>
          <a:xfrm>
            <a:off x="9957816" y="5632704"/>
            <a:ext cx="182880" cy="182880"/>
          </a:xfrm>
          <a:prstGeom prst="ellipse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9" name="step-call-number"/>
          <p:cNvSpPr/>
          <p:nvPr/>
        </p:nvSpPr>
        <p:spPr>
          <a:xfrm>
            <a:off x="9957816" y="56327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90" name="step-call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6104" y="5879592"/>
            <a:ext cx="219456" cy="219456"/>
          </a:xfrm>
          <a:prstGeom prst="rect">
            <a:avLst/>
          </a:prstGeom>
        </p:spPr>
      </p:pic>
      <p:sp>
        <p:nvSpPr>
          <p:cNvPr id="191" name="step-call-title"/>
          <p:cNvSpPr/>
          <p:nvPr/>
        </p:nvSpPr>
        <p:spPr>
          <a:xfrm>
            <a:off x="10268712" y="5660136"/>
            <a:ext cx="1353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最后看调用层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92" name="step-call-body"/>
          <p:cNvSpPr/>
          <p:nvPr/>
        </p:nvSpPr>
        <p:spPr>
          <a:xfrm>
            <a:off x="10268712" y="587959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确认入口是否可见，是否满足显式或隐式匹配条件。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93" name="step-arrow-1"/>
          <p:cNvSpPr/>
          <p:nvPr/>
        </p:nvSpPr>
        <p:spPr>
          <a:xfrm>
            <a:off x="7744968" y="5824728"/>
            <a:ext cx="128016" cy="914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94" name="step-arrow-2"/>
          <p:cNvSpPr/>
          <p:nvPr/>
        </p:nvSpPr>
        <p:spPr>
          <a:xfrm>
            <a:off x="9674352" y="5824728"/>
            <a:ext cx="137160" cy="914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95" name="footer-rule"/>
          <p:cNvSpPr/>
          <p:nvPr/>
        </p:nvSpPr>
        <p:spPr>
          <a:xfrm>
            <a:off x="274320" y="6373368"/>
            <a:ext cx="11686032" cy="914"/>
          </a:xfrm>
          <a:prstGeom prst="line">
            <a:avLst/>
          </a:prstGeom>
          <a:noFill/>
          <a:ln w="8890">
            <a:solidFill>
              <a:srgbClr val="C8C2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96" name="footer-source-icon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3464" y="6473952"/>
            <a:ext cx="201168" cy="201168"/>
          </a:xfrm>
          <a:prstGeom prst="rect">
            <a:avLst/>
          </a:prstGeom>
        </p:spPr>
      </p:pic>
      <p:sp>
        <p:nvSpPr>
          <p:cNvPr id="197" name="footer-source-label"/>
          <p:cNvSpPr/>
          <p:nvPr/>
        </p:nvSpPr>
        <p:spPr>
          <a:xfrm>
            <a:off x="539496" y="6473952"/>
            <a:ext cx="283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98" name="footer-evidence-E01-box"/>
          <p:cNvSpPr/>
          <p:nvPr/>
        </p:nvSpPr>
        <p:spPr>
          <a:xfrm>
            <a:off x="914400" y="6473952"/>
            <a:ext cx="256032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99" name="footer-evidence-E01"/>
          <p:cNvSpPr/>
          <p:nvPr/>
        </p:nvSpPr>
        <p:spPr>
          <a:xfrm>
            <a:off x="914400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0" name="footer-evidence-E01-label"/>
          <p:cNvSpPr/>
          <p:nvPr/>
        </p:nvSpPr>
        <p:spPr>
          <a:xfrm>
            <a:off x="1225296" y="6464808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目录扫描机制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1" name="footer-evidence-E02-box"/>
          <p:cNvSpPr/>
          <p:nvPr/>
        </p:nvSpPr>
        <p:spPr>
          <a:xfrm>
            <a:off x="1993392" y="6473952"/>
            <a:ext cx="256032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2" name="footer-evidence-E02"/>
          <p:cNvSpPr/>
          <p:nvPr/>
        </p:nvSpPr>
        <p:spPr>
          <a:xfrm>
            <a:off x="19933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3" name="footer-evidence-E02-label"/>
          <p:cNvSpPr/>
          <p:nvPr/>
        </p:nvSpPr>
        <p:spPr>
          <a:xfrm>
            <a:off x="2304288" y="6464808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扩展注册机制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4" name="footer-evidence-E07-box"/>
          <p:cNvSpPr/>
          <p:nvPr/>
        </p:nvSpPr>
        <p:spPr>
          <a:xfrm>
            <a:off x="3072384" y="6473952"/>
            <a:ext cx="256032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5" name="footer-evidence-E07"/>
          <p:cNvSpPr/>
          <p:nvPr/>
        </p:nvSpPr>
        <p:spPr>
          <a:xfrm>
            <a:off x="3072384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6" name="footer-evidence-E07-label"/>
          <p:cNvSpPr/>
          <p:nvPr/>
        </p:nvSpPr>
        <p:spPr>
          <a:xfrm>
            <a:off x="3383280" y="6464808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配置目录机制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7" name="footer-evidence-E17-box"/>
          <p:cNvSpPr/>
          <p:nvPr/>
        </p:nvSpPr>
        <p:spPr>
          <a:xfrm>
            <a:off x="4151376" y="6473952"/>
            <a:ext cx="256032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8" name="footer-evidence-E17"/>
          <p:cNvSpPr/>
          <p:nvPr/>
        </p:nvSpPr>
        <p:spPr>
          <a:xfrm>
            <a:off x="415137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9" name="footer-evidence-E17-label"/>
          <p:cNvSpPr/>
          <p:nvPr/>
        </p:nvSpPr>
        <p:spPr>
          <a:xfrm>
            <a:off x="4462272" y="646480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可见性控制机制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10" name="footer-annotation"/>
          <p:cNvSpPr/>
          <p:nvPr/>
        </p:nvSpPr>
        <p:spPr>
          <a:xfrm>
            <a:off x="5943600" y="646480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description 是两个宿主共同的隐式发现面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11" name="page-number"/>
          <p:cNvSpPr/>
          <p:nvPr/>
        </p:nvSpPr>
        <p:spPr>
          <a:xfrm>
            <a:off x="11484864" y="64008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B1E1E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Widescreen</PresentationFormat>
  <Paragraphs>131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Microsoft YaHei</vt:lpstr>
      <vt:lpstr>Aptos</vt:lpstr>
      <vt:lpstr>Arial</vt:lpstr>
      <vt:lpstr>Consolas</vt:lpstr>
      <vt:lpstr>Office Theme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 Code Copilot 与 Codex Skill 的存储、发现与调用规范</dc:title>
  <dc:subject>VS Code Copilot 与 Codex Skill 的存储、发现与调用规范</dc:subject>
  <dc:creator>GitHub Copilot</dc:creator>
  <cp:lastModifiedBy>Yaojun Yang</cp:lastModifiedBy>
  <cp:revision>2</cp:revision>
  <dcterms:created xsi:type="dcterms:W3CDTF">2026-07-17T09:37:02Z</dcterms:created>
  <dcterms:modified xsi:type="dcterms:W3CDTF">2026-08-13T15:20:57Z</dcterms:modified>
</cp:coreProperties>
</file>